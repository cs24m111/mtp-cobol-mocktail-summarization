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EB7BA5-1A81-4C71-9334-497CC5FCFA75}">
  <a:tblStyle styleId="{CDEB7BA5-1A81-4C71-9334-497CC5FCFA7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b9443727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b9443727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b9443727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b9443727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ab977c805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ab977c805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b9443727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b9443727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b9443727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b9443727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b977c805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b977c805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b977c805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b977c805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b977c805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b977c805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b977c805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b977c805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b977c805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b977c805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b9443727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b9443727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b977c805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b977c805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b9e267c01_28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b9e267c01_28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b977c8051_17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b977c8051_17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b977c8051_17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b977c8051_17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b977c8051_17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b977c8051_17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b977c8051_17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b977c8051_17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b977c8051_17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b977c8051_17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b977c8051_17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b977c8051_17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b966d449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b966d449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b977c805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b977c805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b977c8051_17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b977c8051_17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b977c8051_12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b977c8051_1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b977c8051_17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b977c8051_17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ab966d449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ab966d449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b977c8051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b977c8051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b966d449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b966d449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b966d449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ab966d449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ab966d449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ab966d449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ab966d449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ab966d449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b977c8051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ab977c8051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github.com/cs24m111/mtp-cobol-mocktail-summarization.git" TargetMode="External"/><Relationship Id="rId4" Type="http://schemas.openxmlformats.org/officeDocument/2006/relationships/hyperlink" Target="https://github.com/cs24m111/mtp-cobol-mocktail-summarization.git" TargetMode="External"/><Relationship Id="rId5" Type="http://schemas.openxmlformats.org/officeDocument/2006/relationships/hyperlink" Target="https://github.com/cs24m111/mtp-cobol-mocktail-summarization.gi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800">
                <a:latin typeface="Bookman Old Style"/>
                <a:ea typeface="Bookman Old Style"/>
                <a:cs typeface="Bookman Old Style"/>
                <a:sym typeface="Bookman Old Style"/>
              </a:rPr>
              <a:t>MOCKTAIL-BASED MULTI-VIEW COBOL PROGRAM SUMMARIZATION USING BUSINESS RULES AND MULTI-AGENT LLMS</a:t>
            </a:r>
            <a:endParaRPr b="1" sz="2800">
              <a:latin typeface="Bookman Old Style"/>
              <a:ea typeface="Bookman Old Style"/>
              <a:cs typeface="Bookman Old Style"/>
              <a:sym typeface="Bookman Old Style"/>
            </a:endParaRPr>
          </a:p>
          <a:p>
            <a:pPr indent="0" lvl="0" marL="0" rtl="0" algn="ctr">
              <a:spcBef>
                <a:spcPts val="0"/>
              </a:spcBef>
              <a:spcAft>
                <a:spcPts val="0"/>
              </a:spcAft>
              <a:buNone/>
            </a:pPr>
            <a:r>
              <a:t/>
            </a:r>
            <a:endParaRPr b="1" sz="2800">
              <a:latin typeface="Bookman Old Style"/>
              <a:ea typeface="Bookman Old Style"/>
              <a:cs typeface="Bookman Old Style"/>
              <a:sym typeface="Bookman Old Style"/>
            </a:endParaRPr>
          </a:p>
        </p:txBody>
      </p:sp>
      <p:sp>
        <p:nvSpPr>
          <p:cNvPr id="55" name="Google Shape;55;p13"/>
          <p:cNvSpPr txBox="1"/>
          <p:nvPr>
            <p:ph idx="1" type="subTitle"/>
          </p:nvPr>
        </p:nvSpPr>
        <p:spPr>
          <a:xfrm>
            <a:off x="311700" y="2849214"/>
            <a:ext cx="8520600" cy="792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605"/>
              <a:buNone/>
            </a:pPr>
            <a:r>
              <a:rPr lang="en" sz="1840">
                <a:solidFill>
                  <a:schemeClr val="dk1"/>
                </a:solidFill>
                <a:latin typeface="Bookman Old Style"/>
                <a:ea typeface="Bookman Old Style"/>
                <a:cs typeface="Bookman Old Style"/>
                <a:sym typeface="Bookman Old Style"/>
              </a:rPr>
              <a:t>Presented by</a:t>
            </a:r>
            <a:endParaRPr sz="1840">
              <a:solidFill>
                <a:schemeClr val="dk1"/>
              </a:solidFill>
              <a:latin typeface="Bookman Old Style"/>
              <a:ea typeface="Bookman Old Style"/>
              <a:cs typeface="Bookman Old Style"/>
              <a:sym typeface="Bookman Old Style"/>
            </a:endParaRPr>
          </a:p>
          <a:p>
            <a:pPr indent="0" lvl="0" marL="0" rtl="0" algn="ctr">
              <a:lnSpc>
                <a:spcPct val="100000"/>
              </a:lnSpc>
              <a:spcBef>
                <a:spcPts val="0"/>
              </a:spcBef>
              <a:spcAft>
                <a:spcPts val="0"/>
              </a:spcAft>
              <a:buSzPts val="605"/>
              <a:buNone/>
            </a:pPr>
            <a:r>
              <a:rPr lang="en" sz="1840">
                <a:solidFill>
                  <a:schemeClr val="dk1"/>
                </a:solidFill>
                <a:latin typeface="Bookman Old Style"/>
                <a:ea typeface="Bookman Old Style"/>
                <a:cs typeface="Bookman Old Style"/>
                <a:sym typeface="Bookman Old Style"/>
              </a:rPr>
              <a:t>CS24M111 - Gajula Kavyasri</a:t>
            </a:r>
            <a:endParaRPr sz="1840">
              <a:solidFill>
                <a:schemeClr val="dk1"/>
              </a:solidFill>
              <a:latin typeface="Bookman Old Style"/>
              <a:ea typeface="Bookman Old Style"/>
              <a:cs typeface="Bookman Old Style"/>
              <a:sym typeface="Bookman Old Style"/>
            </a:endParaRPr>
          </a:p>
          <a:p>
            <a:pPr indent="0" lvl="0" marL="0" rtl="0" algn="ctr">
              <a:lnSpc>
                <a:spcPct val="100000"/>
              </a:lnSpc>
              <a:spcBef>
                <a:spcPts val="0"/>
              </a:spcBef>
              <a:spcAft>
                <a:spcPts val="0"/>
              </a:spcAft>
              <a:buSzPts val="605"/>
              <a:buNone/>
            </a:pPr>
            <a:r>
              <a:rPr lang="en" sz="1840">
                <a:solidFill>
                  <a:schemeClr val="dk1"/>
                </a:solidFill>
                <a:latin typeface="Bookman Old Style"/>
                <a:ea typeface="Bookman Old Style"/>
                <a:cs typeface="Bookman Old Style"/>
                <a:sym typeface="Bookman Old Style"/>
              </a:rPr>
              <a:t>   CS24M121 - Kodela Phanindra</a:t>
            </a:r>
            <a:endParaRPr sz="1840">
              <a:solidFill>
                <a:schemeClr val="dk1"/>
              </a:solidFill>
              <a:latin typeface="Bookman Old Style"/>
              <a:ea typeface="Bookman Old Style"/>
              <a:cs typeface="Bookman Old Style"/>
              <a:sym typeface="Bookman Old Style"/>
            </a:endParaRPr>
          </a:p>
          <a:p>
            <a:pPr indent="0" lvl="0" marL="0" rtl="0" algn="ctr">
              <a:lnSpc>
                <a:spcPct val="80000"/>
              </a:lnSpc>
              <a:spcBef>
                <a:spcPts val="0"/>
              </a:spcBef>
              <a:spcAft>
                <a:spcPts val="0"/>
              </a:spcAft>
              <a:buSzPts val="605"/>
              <a:buNone/>
            </a:pPr>
            <a:r>
              <a:t/>
            </a:r>
            <a:endParaRPr sz="1840">
              <a:solidFill>
                <a:schemeClr val="dk1"/>
              </a:solidFill>
              <a:latin typeface="Bookman Old Style"/>
              <a:ea typeface="Bookman Old Style"/>
              <a:cs typeface="Bookman Old Style"/>
              <a:sym typeface="Bookman Old Style"/>
            </a:endParaRPr>
          </a:p>
          <a:p>
            <a:pPr indent="0" lvl="0" marL="0" rtl="0" algn="ctr">
              <a:lnSpc>
                <a:spcPct val="100000"/>
              </a:lnSpc>
              <a:spcBef>
                <a:spcPts val="0"/>
              </a:spcBef>
              <a:spcAft>
                <a:spcPts val="0"/>
              </a:spcAft>
              <a:buSzPts val="605"/>
              <a:buNone/>
            </a:pPr>
            <a:r>
              <a:rPr lang="en" sz="1840">
                <a:solidFill>
                  <a:schemeClr val="dk1"/>
                </a:solidFill>
                <a:latin typeface="Bookman Old Style"/>
                <a:ea typeface="Bookman Old Style"/>
                <a:cs typeface="Bookman Old Style"/>
                <a:sym typeface="Bookman Old Style"/>
              </a:rPr>
              <a:t>Under the guidance of </a:t>
            </a:r>
            <a:br>
              <a:rPr lang="en" sz="1840">
                <a:solidFill>
                  <a:schemeClr val="dk1"/>
                </a:solidFill>
                <a:latin typeface="Bookman Old Style"/>
                <a:ea typeface="Bookman Old Style"/>
                <a:cs typeface="Bookman Old Style"/>
                <a:sym typeface="Bookman Old Style"/>
              </a:rPr>
            </a:br>
            <a:r>
              <a:rPr lang="en" sz="1840">
                <a:solidFill>
                  <a:schemeClr val="dk1"/>
                </a:solidFill>
                <a:latin typeface="Bookman Old Style"/>
                <a:ea typeface="Bookman Old Style"/>
                <a:cs typeface="Bookman Old Style"/>
                <a:sym typeface="Bookman Old Style"/>
              </a:rPr>
              <a:t>Dr. Sridhar Chimalakonda</a:t>
            </a:r>
            <a:endParaRPr sz="1840">
              <a:solidFill>
                <a:schemeClr val="dk1"/>
              </a:solidFill>
              <a:latin typeface="Bookman Old Style"/>
              <a:ea typeface="Bookman Old Style"/>
              <a:cs typeface="Bookman Old Style"/>
              <a:sym typeface="Bookman Old Styl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Table of Contents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Introduction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Problem Definition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Literature Survey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Methodology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Pipeline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Implementation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Results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Conclusion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Future Work</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References</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94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7" name="Google Shape;67;p15"/>
          <p:cNvSpPr txBox="1"/>
          <p:nvPr>
            <p:ph idx="1" type="body"/>
          </p:nvPr>
        </p:nvSpPr>
        <p:spPr>
          <a:xfrm>
            <a:off x="311700" y="1017725"/>
            <a:ext cx="3677100" cy="4031400"/>
          </a:xfrm>
          <a:prstGeom prst="rect">
            <a:avLst/>
          </a:prstGeom>
        </p:spPr>
        <p:txBody>
          <a:bodyPr anchorCtr="0" anchor="t" bIns="91425" lIns="91425" spcFirstLastPara="1" rIns="91425" wrap="square" tIns="91425">
            <a:normAutofit lnSpcReduction="20000"/>
          </a:bodyPr>
          <a:lstStyle/>
          <a:p>
            <a:pPr indent="-298450" lvl="0" marL="457200" rtl="0" algn="l">
              <a:spcBef>
                <a:spcPts val="1200"/>
              </a:spcBef>
              <a:spcAft>
                <a:spcPts val="0"/>
              </a:spcAft>
              <a:buClr>
                <a:schemeClr val="dk1"/>
              </a:buClr>
              <a:buSzPts val="1100"/>
              <a:buChar char="●"/>
            </a:pPr>
            <a:r>
              <a:rPr b="1" lang="en" sz="1100">
                <a:solidFill>
                  <a:schemeClr val="dk1"/>
                </a:solidFill>
              </a:rPr>
              <a:t>Common Business-Oriented Language (COBOL) still powers 70%+ of global financial, government, and banking systems.</a:t>
            </a:r>
            <a:br>
              <a:rPr b="1" lang="en" sz="1100">
                <a:solidFill>
                  <a:schemeClr val="dk1"/>
                </a:solidFill>
              </a:rPr>
            </a:b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Legacy COBOL programs are hard to understand due to </a:t>
            </a:r>
            <a:r>
              <a:rPr b="1" lang="en" sz="1100">
                <a:solidFill>
                  <a:schemeClr val="dk1"/>
                </a:solidFill>
              </a:rPr>
              <a:t>poor documentation</a:t>
            </a:r>
            <a:r>
              <a:rPr lang="en" sz="1100">
                <a:solidFill>
                  <a:schemeClr val="dk1"/>
                </a:solidFill>
              </a:rPr>
              <a:t> and </a:t>
            </a:r>
            <a:r>
              <a:rPr b="1" lang="en" sz="1100">
                <a:solidFill>
                  <a:schemeClr val="dk1"/>
                </a:solidFill>
              </a:rPr>
              <a:t>scattered, deeply embedded business logic</a:t>
            </a:r>
            <a:r>
              <a:rPr lang="en" sz="1100">
                <a:solidFill>
                  <a:schemeClr val="dk1"/>
                </a:solidFill>
              </a:rPr>
              <a:t>.</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Retiring COBOL experts</a:t>
            </a:r>
            <a:r>
              <a:rPr lang="en" sz="1100">
                <a:solidFill>
                  <a:schemeClr val="dk1"/>
                </a:solidFill>
              </a:rPr>
              <a:t> and large monolithic codebases make manual understanding slow and error-prone.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Business rules</a:t>
            </a:r>
            <a:r>
              <a:rPr lang="en" sz="1100">
                <a:solidFill>
                  <a:schemeClr val="dk1"/>
                </a:solidFill>
              </a:rPr>
              <a:t> in cobol plays an important role in understanding business logic and helps in code summarization tasks semantically.</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Structural representations (</a:t>
            </a:r>
            <a:r>
              <a:rPr b="1" lang="en" sz="1100">
                <a:solidFill>
                  <a:schemeClr val="dk1"/>
                </a:solidFill>
              </a:rPr>
              <a:t>AST, CFG, DFG, PDG</a:t>
            </a:r>
            <a:r>
              <a:rPr lang="en" sz="1100">
                <a:solidFill>
                  <a:schemeClr val="dk1"/>
                </a:solidFill>
              </a:rPr>
              <a:t>) and business-rule tools (</a:t>
            </a:r>
            <a:r>
              <a:rPr b="1" lang="en" sz="1100">
                <a:solidFill>
                  <a:schemeClr val="dk1"/>
                </a:solidFill>
              </a:rPr>
              <a:t>A-COBREX, COMEX</a:t>
            </a:r>
            <a:r>
              <a:rPr lang="en" sz="1100">
                <a:solidFill>
                  <a:schemeClr val="dk1"/>
                </a:solidFill>
              </a:rPr>
              <a:t>) help reveal hidden program logic.</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Recent LLM advances show that combining </a:t>
            </a:r>
            <a:r>
              <a:rPr b="1" lang="en" sz="1100">
                <a:solidFill>
                  <a:schemeClr val="dk1"/>
                </a:solidFill>
              </a:rPr>
              <a:t>structural views</a:t>
            </a:r>
            <a:r>
              <a:rPr lang="en" sz="1100">
                <a:solidFill>
                  <a:schemeClr val="dk1"/>
                </a:solidFill>
              </a:rPr>
              <a:t> with </a:t>
            </a:r>
            <a:r>
              <a:rPr b="1" lang="en" sz="1100">
                <a:solidFill>
                  <a:schemeClr val="dk1"/>
                </a:solidFill>
              </a:rPr>
              <a:t>business rules</a:t>
            </a:r>
            <a:r>
              <a:rPr lang="en" sz="1100">
                <a:solidFill>
                  <a:schemeClr val="dk1"/>
                </a:solidFill>
              </a:rPr>
              <a:t> enables more accurate COBOL program summarization.</a:t>
            </a:r>
            <a:endParaRPr b="1">
              <a:solidFill>
                <a:schemeClr val="dk1"/>
              </a:solidFill>
            </a:endParaRPr>
          </a:p>
        </p:txBody>
      </p:sp>
      <p:pic>
        <p:nvPicPr>
          <p:cNvPr id="68" name="Google Shape;68;p15"/>
          <p:cNvPicPr preferRelativeResize="0"/>
          <p:nvPr/>
        </p:nvPicPr>
        <p:blipFill rotWithShape="1">
          <a:blip r:embed="rId3">
            <a:alphaModFix/>
          </a:blip>
          <a:srcRect b="0" l="0" r="0" t="10418"/>
          <a:stretch/>
        </p:blipFill>
        <p:spPr>
          <a:xfrm>
            <a:off x="3988675" y="866975"/>
            <a:ext cx="3843250" cy="34379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Objectives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1. </a:t>
            </a:r>
            <a:r>
              <a:rPr lang="en">
                <a:solidFill>
                  <a:schemeClr val="dk1"/>
                </a:solidFill>
              </a:rPr>
              <a:t>Generation of Multi-Source Code Representations.</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2. Business Rule Extraction and Rule-Level Slicing.</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3. Construction of Mocktail Representations.</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4. Employing Multi-Agent LLMs for file-level explanations.</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5. Evaluation Using Human-Annotated References by LLM-as-Judge.</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Definition</a:t>
            </a:r>
            <a:endParaRPr/>
          </a:p>
        </p:txBody>
      </p:sp>
      <p:sp>
        <p:nvSpPr>
          <p:cNvPr id="80" name="Google Shape;80;p17"/>
          <p:cNvSpPr txBox="1"/>
          <p:nvPr>
            <p:ph idx="1" type="body"/>
          </p:nvPr>
        </p:nvSpPr>
        <p:spPr>
          <a:xfrm>
            <a:off x="311700" y="1152475"/>
            <a:ext cx="4431000" cy="3416400"/>
          </a:xfrm>
          <a:prstGeom prst="rect">
            <a:avLst/>
          </a:prstGeom>
        </p:spPr>
        <p:txBody>
          <a:bodyPr anchorCtr="0" anchor="t" bIns="91425" lIns="91425" spcFirstLastPara="1" rIns="91425" wrap="square" tIns="91425">
            <a:normAutofit lnSpcReduction="20000"/>
          </a:bodyPr>
          <a:lstStyle/>
          <a:p>
            <a:pPr indent="-298450" lvl="0" marL="457200" rtl="0" algn="l">
              <a:spcBef>
                <a:spcPts val="1200"/>
              </a:spcBef>
              <a:spcAft>
                <a:spcPts val="0"/>
              </a:spcAft>
              <a:buClr>
                <a:schemeClr val="dk1"/>
              </a:buClr>
              <a:buSzPts val="1100"/>
              <a:buChar char="●"/>
            </a:pPr>
            <a:r>
              <a:rPr lang="en" sz="1100">
                <a:solidFill>
                  <a:schemeClr val="dk1"/>
                </a:solidFill>
              </a:rPr>
              <a:t>Legacy COBOL programs contain </a:t>
            </a:r>
            <a:r>
              <a:rPr b="1" lang="en" sz="1100">
                <a:solidFill>
                  <a:schemeClr val="dk1"/>
                </a:solidFill>
              </a:rPr>
              <a:t>deeply embedded business rules</a:t>
            </a:r>
            <a:r>
              <a:rPr lang="en" sz="1100">
                <a:solidFill>
                  <a:schemeClr val="dk1"/>
                </a:solidFill>
              </a:rPr>
              <a:t> spread across paragraphs, nested conditions, and data flows, making them hard to understand.</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Existing tools fail due to </a:t>
            </a:r>
            <a:r>
              <a:rPr b="1" lang="en" sz="1100">
                <a:solidFill>
                  <a:schemeClr val="dk1"/>
                </a:solidFill>
              </a:rPr>
              <a:t>structural inconsistencies</a:t>
            </a:r>
            <a:r>
              <a:rPr lang="en" sz="1100">
                <a:solidFill>
                  <a:schemeClr val="dk1"/>
                </a:solidFill>
              </a:rPr>
              <a:t>, dialect variations, copybooks, and large monolithic flows → leading to </a:t>
            </a:r>
            <a:r>
              <a:rPr b="1" lang="en" sz="1100">
                <a:solidFill>
                  <a:schemeClr val="dk1"/>
                </a:solidFill>
              </a:rPr>
              <a:t>incomplete rule extraction</a:t>
            </a:r>
            <a:r>
              <a:rPr lang="en" sz="1100">
                <a:solidFill>
                  <a:schemeClr val="dk1"/>
                </a:solidFill>
              </a:rPr>
              <a:t>.</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Current LLM approaches struggle with </a:t>
            </a:r>
            <a:r>
              <a:rPr b="1" lang="en" sz="1100">
                <a:solidFill>
                  <a:schemeClr val="dk1"/>
                </a:solidFill>
              </a:rPr>
              <a:t>long COBOL files</a:t>
            </a:r>
            <a:r>
              <a:rPr lang="en" sz="1100">
                <a:solidFill>
                  <a:schemeClr val="dk1"/>
                </a:solidFill>
              </a:rPr>
              <a:t> and lack awareness of structural context and rule semantics.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There is </a:t>
            </a:r>
            <a:r>
              <a:rPr b="1" lang="en" sz="1100">
                <a:solidFill>
                  <a:schemeClr val="dk1"/>
                </a:solidFill>
              </a:rPr>
              <a:t>no unified pipeline</a:t>
            </a:r>
            <a:r>
              <a:rPr lang="en" sz="1100">
                <a:solidFill>
                  <a:schemeClr val="dk1"/>
                </a:solidFill>
              </a:rPr>
              <a:t> combining business-rule extraction, structural code representations (AST/CFG/DFG/PDG), and LLM reasoning for accurate summarization.</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 systematic approach is required to extract </a:t>
            </a:r>
            <a:r>
              <a:rPr b="1" lang="en" sz="1100">
                <a:solidFill>
                  <a:schemeClr val="dk1"/>
                </a:solidFill>
              </a:rPr>
              <a:t>rule-level semantics</a:t>
            </a:r>
            <a:r>
              <a:rPr lang="en" sz="1100">
                <a:solidFill>
                  <a:schemeClr val="dk1"/>
                </a:solidFill>
              </a:rPr>
              <a:t>, integrate multi-view representations, and generate reliable COBOL summaries for modernization.</a:t>
            </a:r>
            <a:br>
              <a:rPr lang="en" sz="1100">
                <a:solidFill>
                  <a:schemeClr val="dk1"/>
                </a:solidFill>
              </a:rPr>
            </a:br>
            <a:endParaRPr sz="1100">
              <a:solidFill>
                <a:schemeClr val="dk1"/>
              </a:solidFill>
            </a:endParaRPr>
          </a:p>
        </p:txBody>
      </p:sp>
      <p:sp>
        <p:nvSpPr>
          <p:cNvPr id="81" name="Google Shape;81;p17"/>
          <p:cNvSpPr txBox="1"/>
          <p:nvPr/>
        </p:nvSpPr>
        <p:spPr>
          <a:xfrm>
            <a:off x="311700" y="4483500"/>
            <a:ext cx="8192100" cy="46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Core Problem  – </a:t>
            </a:r>
            <a:r>
              <a:rPr b="1" lang="en" sz="1100">
                <a:solidFill>
                  <a:schemeClr val="dk1"/>
                </a:solidFill>
              </a:rPr>
              <a:t>How do we automatically understand and summarize large COBOL programs using modern AI techniques?</a:t>
            </a:r>
            <a:endParaRPr b="1" sz="1100">
              <a:solidFill>
                <a:schemeClr val="dk1"/>
              </a:solidFill>
            </a:endParaRPr>
          </a:p>
          <a:p>
            <a:pPr indent="0" lvl="0" marL="0" rtl="0" algn="l">
              <a:lnSpc>
                <a:spcPct val="115000"/>
              </a:lnSpc>
              <a:spcBef>
                <a:spcPts val="4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pic>
        <p:nvPicPr>
          <p:cNvPr id="82" name="Google Shape;82;p17"/>
          <p:cNvPicPr preferRelativeResize="0"/>
          <p:nvPr/>
        </p:nvPicPr>
        <p:blipFill rotWithShape="1">
          <a:blip r:embed="rId3">
            <a:alphaModFix/>
          </a:blip>
          <a:srcRect b="0" l="0" r="0" t="8130"/>
          <a:stretch/>
        </p:blipFill>
        <p:spPr>
          <a:xfrm>
            <a:off x="4895100" y="881875"/>
            <a:ext cx="3335175" cy="36869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Literature Survey</a:t>
            </a:r>
            <a:endParaRPr/>
          </a:p>
        </p:txBody>
      </p:sp>
      <p:graphicFrame>
        <p:nvGraphicFramePr>
          <p:cNvPr id="88" name="Google Shape;88;p18"/>
          <p:cNvGraphicFramePr/>
          <p:nvPr/>
        </p:nvGraphicFramePr>
        <p:xfrm>
          <a:off x="141450" y="964900"/>
          <a:ext cx="3000000" cy="3000000"/>
        </p:xfrm>
        <a:graphic>
          <a:graphicData uri="http://schemas.openxmlformats.org/drawingml/2006/table">
            <a:tbl>
              <a:tblPr>
                <a:noFill/>
                <a:tableStyleId>{CDEB7BA5-1A81-4C71-9334-497CC5FCFA75}</a:tableStyleId>
              </a:tblPr>
              <a:tblGrid>
                <a:gridCol w="539825"/>
                <a:gridCol w="1676775"/>
                <a:gridCol w="644475"/>
                <a:gridCol w="2205750"/>
                <a:gridCol w="1815450"/>
                <a:gridCol w="1978825"/>
              </a:tblGrid>
              <a:tr h="225000">
                <a:tc>
                  <a:txBody>
                    <a:bodyPr/>
                    <a:lstStyle/>
                    <a:p>
                      <a:pPr indent="0" lvl="0" marL="0" rtl="0" algn="l">
                        <a:lnSpc>
                          <a:spcPct val="115000"/>
                        </a:lnSpc>
                        <a:spcBef>
                          <a:spcPts val="0"/>
                        </a:spcBef>
                        <a:spcAft>
                          <a:spcPts val="0"/>
                        </a:spcAft>
                        <a:buNone/>
                      </a:pPr>
                      <a:r>
                        <a:rPr b="1" lang="en" sz="1200"/>
                        <a:t>S.No</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Paper</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Venue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Core Idea</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Key Strength</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Limitation</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4550">
                <a:tc>
                  <a:txBody>
                    <a:bodyPr/>
                    <a:lstStyle/>
                    <a:p>
                      <a:pPr indent="0" lvl="0" marL="0" rtl="0" algn="l">
                        <a:spcBef>
                          <a:spcPts val="0"/>
                        </a:spcBef>
                        <a:spcAft>
                          <a:spcPts val="0"/>
                        </a:spcAft>
                        <a:buNone/>
                      </a:pPr>
                      <a:r>
                        <a:rPr b="1" lang="en" sz="1100"/>
                        <a:t>1</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i="1" lang="en" sz="1100"/>
                        <a:t>COBREX</a:t>
                      </a:r>
                      <a:endParaRPr i="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ICSME 2022</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Extracts business-rule slices from COBOL</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Helps modernization by exposing rule logic</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Single-variable rules; incomplete slices</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4550">
                <a:tc>
                  <a:txBody>
                    <a:bodyPr/>
                    <a:lstStyle/>
                    <a:p>
                      <a:pPr indent="0" lvl="0" marL="0" rtl="0" algn="l">
                        <a:spcBef>
                          <a:spcPts val="0"/>
                        </a:spcBef>
                        <a:spcAft>
                          <a:spcPts val="0"/>
                        </a:spcAft>
                        <a:buNone/>
                      </a:pPr>
                      <a:r>
                        <a:rPr b="1" lang="en" sz="1100"/>
                        <a:t>2</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i="1" lang="en" sz="1100"/>
                        <a:t>A-COBREX</a:t>
                      </a:r>
                      <a:endParaRPr i="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ICSE 2025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RBB→BRR business rule reconstruction</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Produces coherent and richer business rules</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No cross-file/system-level rule extraction</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4550">
                <a:tc>
                  <a:txBody>
                    <a:bodyPr/>
                    <a:lstStyle/>
                    <a:p>
                      <a:pPr indent="0" lvl="0" marL="0" rtl="0" algn="l">
                        <a:spcBef>
                          <a:spcPts val="0"/>
                        </a:spcBef>
                        <a:spcAft>
                          <a:spcPts val="0"/>
                        </a:spcAft>
                        <a:buNone/>
                      </a:pPr>
                      <a:r>
                        <a:rPr b="1" lang="en" sz="1100"/>
                        <a:t>3</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i="1" lang="en" sz="1100"/>
                        <a:t>COMEX</a:t>
                      </a:r>
                      <a:endParaRPr i="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ASE 2023</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AST/CFG/DFG extraction via tree-sitter</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Extensible structural extraction</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Not built for COBOL; grammar adaptation needed</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44550">
                <a:tc>
                  <a:txBody>
                    <a:bodyPr/>
                    <a:lstStyle/>
                    <a:p>
                      <a:pPr indent="0" lvl="0" marL="0" rtl="0" algn="l">
                        <a:spcBef>
                          <a:spcPts val="0"/>
                        </a:spcBef>
                        <a:spcAft>
                          <a:spcPts val="0"/>
                        </a:spcAft>
                        <a:buNone/>
                      </a:pPr>
                      <a:r>
                        <a:rPr b="1" lang="en" sz="1100"/>
                        <a:t>4</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i="1" lang="en" sz="1100">
                          <a:solidFill>
                            <a:schemeClr val="dk1"/>
                          </a:solidFill>
                        </a:rPr>
                        <a:t>A Mocktail of Source Code Representations</a:t>
                      </a:r>
                      <a:endParaRPr i="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ASE 2021</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1"/>
                          </a:solidFill>
                        </a:rPr>
                        <a:t>Multi-view code representations (AST+CFG+PDG)</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1"/>
                          </a:solidFill>
                        </a:rPr>
                        <a:t>Boosts model performance on code tasks</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1"/>
                          </a:solidFill>
                        </a:rPr>
                        <a:t>Only evaluated on C; not for COBOL</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9850">
                <a:tc>
                  <a:txBody>
                    <a:bodyPr/>
                    <a:lstStyle/>
                    <a:p>
                      <a:pPr indent="0" lvl="0" marL="0" rtl="0" algn="l">
                        <a:spcBef>
                          <a:spcPts val="0"/>
                        </a:spcBef>
                        <a:spcAft>
                          <a:spcPts val="0"/>
                        </a:spcAft>
                        <a:buNone/>
                      </a:pPr>
                      <a:r>
                        <a:rPr b="1" lang="en" sz="1100"/>
                        <a:t>5</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i="1" lang="en" sz="1100"/>
                        <a:t>Multi-Agent COBOL Explanations</a:t>
                      </a:r>
                      <a:endParaRPr i="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arXiv 2025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Code Agent + Text Agent summaries</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Better clarity &amp; completeness</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Small dataset; depends on LLM quality</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3925">
                <a:tc>
                  <a:txBody>
                    <a:bodyPr/>
                    <a:lstStyle/>
                    <a:p>
                      <a:pPr indent="0" lvl="0" marL="0" rtl="0" algn="l">
                        <a:spcBef>
                          <a:spcPts val="0"/>
                        </a:spcBef>
                        <a:spcAft>
                          <a:spcPts val="0"/>
                        </a:spcAft>
                        <a:buNone/>
                      </a:pPr>
                      <a:r>
                        <a:rPr b="1" lang="en" sz="1100"/>
                        <a:t>6</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i="1" lang="en" sz="1100"/>
                        <a:t>X-COBOL Dataset</a:t>
                      </a:r>
                      <a:endParaRPr i="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arXiv 2023</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84 COBOL repos curated with metadata</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Largest public COBOL dataset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Contains noisy/low-quality projects</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89" name="Google Shape;89;p18"/>
          <p:cNvSpPr txBox="1"/>
          <p:nvPr/>
        </p:nvSpPr>
        <p:spPr>
          <a:xfrm>
            <a:off x="2333700" y="4809275"/>
            <a:ext cx="4476600" cy="2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Table</a:t>
            </a:r>
            <a:r>
              <a:rPr lang="en" sz="1600">
                <a:solidFill>
                  <a:schemeClr val="dk1"/>
                </a:solidFill>
              </a:rPr>
              <a:t> - 1. Summary of Literature Survey</a:t>
            </a:r>
            <a:endParaRPr sz="1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COBREX - </a:t>
            </a:r>
            <a:r>
              <a:rPr lang="en" sz="2300">
                <a:highlight>
                  <a:srgbClr val="FFFFFF"/>
                </a:highlight>
              </a:rPr>
              <a:t>A Tool for Extracting Business Rules from COBOL</a:t>
            </a:r>
            <a:endParaRPr sz="1150">
              <a:highlight>
                <a:srgbClr val="FFFFFF"/>
              </a:highlight>
            </a:endParaRPr>
          </a:p>
          <a:p>
            <a:pPr indent="0" lvl="0" marL="0" rtl="0" algn="ctr">
              <a:spcBef>
                <a:spcPts val="0"/>
              </a:spcBef>
              <a:spcAft>
                <a:spcPts val="0"/>
              </a:spcAft>
              <a:buNone/>
            </a:pPr>
            <a:r>
              <a:t/>
            </a:r>
            <a:endParaRPr/>
          </a:p>
        </p:txBody>
      </p:sp>
      <p:sp>
        <p:nvSpPr>
          <p:cNvPr id="95" name="Google Shape;95;p19"/>
          <p:cNvSpPr txBox="1"/>
          <p:nvPr>
            <p:ph idx="1" type="body"/>
          </p:nvPr>
        </p:nvSpPr>
        <p:spPr>
          <a:xfrm>
            <a:off x="311700" y="3996175"/>
            <a:ext cx="4959900" cy="1450200"/>
          </a:xfrm>
          <a:prstGeom prst="rect">
            <a:avLst/>
          </a:prstGeom>
        </p:spPr>
        <p:txBody>
          <a:bodyPr anchorCtr="0" anchor="t" bIns="91425" lIns="91425" spcFirstLastPara="1" rIns="91425" wrap="square" tIns="91425">
            <a:normAutofit/>
          </a:bodyPr>
          <a:lstStyle/>
          <a:p>
            <a:pPr indent="-298450" lvl="0" marL="457200" rtl="0" algn="l">
              <a:lnSpc>
                <a:spcPct val="100000"/>
              </a:lnSpc>
              <a:spcBef>
                <a:spcPts val="0"/>
              </a:spcBef>
              <a:spcAft>
                <a:spcPts val="0"/>
              </a:spcAft>
              <a:buClr>
                <a:schemeClr val="dk1"/>
              </a:buClr>
              <a:buSzPts val="1100"/>
              <a:buChar char="●"/>
            </a:pPr>
            <a:r>
              <a:rPr lang="en" sz="1100">
                <a:solidFill>
                  <a:schemeClr val="dk1"/>
                </a:solidFill>
              </a:rPr>
              <a:t>Legacy COBOL parser</a:t>
            </a:r>
            <a:br>
              <a:rPr lang="en" sz="1100">
                <a:solidFill>
                  <a:schemeClr val="dk1"/>
                </a:solidFill>
              </a:rPr>
            </a:b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Variable-centric slices</a:t>
            </a:r>
            <a:br>
              <a:rPr lang="en" sz="1100">
                <a:solidFill>
                  <a:schemeClr val="dk1"/>
                </a:solidFill>
              </a:rPr>
            </a:b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Provides initial business rule fragments</a:t>
            </a:r>
            <a:endParaRPr sz="1100">
              <a:solidFill>
                <a:schemeClr val="dk1"/>
              </a:solidFill>
            </a:endParaRPr>
          </a:p>
          <a:p>
            <a:pPr indent="0" lvl="0" marL="457200" rtl="0" algn="l">
              <a:spcBef>
                <a:spcPts val="1200"/>
              </a:spcBef>
              <a:spcAft>
                <a:spcPts val="1200"/>
              </a:spcAft>
              <a:buNone/>
            </a:pPr>
            <a:r>
              <a:t/>
            </a:r>
            <a:endParaRPr/>
          </a:p>
        </p:txBody>
      </p:sp>
      <p:pic>
        <p:nvPicPr>
          <p:cNvPr id="96" name="Google Shape;96;p19" title="cobrex-fig.png"/>
          <p:cNvPicPr preferRelativeResize="0"/>
          <p:nvPr/>
        </p:nvPicPr>
        <p:blipFill rotWithShape="1">
          <a:blip r:embed="rId3">
            <a:alphaModFix/>
          </a:blip>
          <a:srcRect b="4048" l="3573" r="2872" t="6377"/>
          <a:stretch/>
        </p:blipFill>
        <p:spPr>
          <a:xfrm>
            <a:off x="311700" y="1017725"/>
            <a:ext cx="8151674" cy="2246275"/>
          </a:xfrm>
          <a:prstGeom prst="rect">
            <a:avLst/>
          </a:prstGeom>
          <a:noFill/>
          <a:ln>
            <a:noFill/>
          </a:ln>
        </p:spPr>
      </p:pic>
      <p:sp>
        <p:nvSpPr>
          <p:cNvPr id="97" name="Google Shape;97;p19"/>
          <p:cNvSpPr txBox="1"/>
          <p:nvPr/>
        </p:nvSpPr>
        <p:spPr>
          <a:xfrm>
            <a:off x="4299125" y="3842825"/>
            <a:ext cx="4026000" cy="1074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Arial"/>
              <a:buNone/>
            </a:pPr>
            <a:r>
              <a:rPr lang="en" sz="1300">
                <a:solidFill>
                  <a:schemeClr val="dk1"/>
                </a:solidFill>
              </a:rPr>
              <a:t>Limitations:</a:t>
            </a:r>
            <a:endParaRPr sz="1300">
              <a:solidFill>
                <a:schemeClr val="dk1"/>
              </a:solidFill>
            </a:endParaRPr>
          </a:p>
          <a:p>
            <a:pPr indent="-311150" lvl="0" marL="457200" rtl="0" algn="l">
              <a:lnSpc>
                <a:spcPct val="100000"/>
              </a:lnSpc>
              <a:spcBef>
                <a:spcPts val="1200"/>
              </a:spcBef>
              <a:spcAft>
                <a:spcPts val="0"/>
              </a:spcAft>
              <a:buClr>
                <a:schemeClr val="dk1"/>
              </a:buClr>
              <a:buSzPts val="1300"/>
              <a:buChar char="●"/>
            </a:pPr>
            <a:r>
              <a:rPr lang="en" sz="1300">
                <a:solidFill>
                  <a:schemeClr val="dk1"/>
                </a:solidFill>
              </a:rPr>
              <a:t>Only</a:t>
            </a:r>
            <a:r>
              <a:rPr lang="en" sz="1300">
                <a:solidFill>
                  <a:schemeClr val="dk1"/>
                </a:solidFill>
              </a:rPr>
              <a:t> single-variable rules</a:t>
            </a:r>
            <a:endParaRPr sz="1300">
              <a:solidFill>
                <a:schemeClr val="dk1"/>
              </a:solidFill>
            </a:endParaRPr>
          </a:p>
          <a:p>
            <a:pPr indent="-311150" lvl="0" marL="457200" rtl="0" algn="l">
              <a:lnSpc>
                <a:spcPct val="100000"/>
              </a:lnSpc>
              <a:spcBef>
                <a:spcPts val="0"/>
              </a:spcBef>
              <a:spcAft>
                <a:spcPts val="0"/>
              </a:spcAft>
              <a:buClr>
                <a:schemeClr val="dk1"/>
              </a:buClr>
              <a:buSzPts val="1300"/>
              <a:buChar char="●"/>
            </a:pPr>
            <a:r>
              <a:rPr lang="en" sz="1300">
                <a:solidFill>
                  <a:schemeClr val="dk1"/>
                </a:solidFill>
              </a:rPr>
              <a:t>Fragmented</a:t>
            </a:r>
            <a:endParaRPr sz="1300">
              <a:solidFill>
                <a:schemeClr val="dk1"/>
              </a:solidFill>
            </a:endParaRPr>
          </a:p>
          <a:p>
            <a:pPr indent="-311150" lvl="0" marL="457200" rtl="0" algn="l">
              <a:lnSpc>
                <a:spcPct val="100000"/>
              </a:lnSpc>
              <a:spcBef>
                <a:spcPts val="0"/>
              </a:spcBef>
              <a:spcAft>
                <a:spcPts val="0"/>
              </a:spcAft>
              <a:buClr>
                <a:schemeClr val="dk1"/>
              </a:buClr>
              <a:buSzPts val="1300"/>
              <a:buChar char="●"/>
            </a:pPr>
            <a:r>
              <a:rPr lang="en" sz="1300">
                <a:solidFill>
                  <a:schemeClr val="dk1"/>
                </a:solidFill>
              </a:rPr>
              <a:t>No BRR formation</a:t>
            </a:r>
            <a:endParaRPr sz="1300">
              <a:solidFill>
                <a:schemeClr val="dk1"/>
              </a:solidFill>
            </a:endParaRPr>
          </a:p>
          <a:p>
            <a:pPr indent="0" lvl="0" marL="0" rtl="0" algn="l">
              <a:lnSpc>
                <a:spcPct val="100000"/>
              </a:lnSpc>
              <a:spcBef>
                <a:spcPts val="1200"/>
              </a:spcBef>
              <a:spcAft>
                <a:spcPts val="0"/>
              </a:spcAft>
              <a:buNone/>
            </a:pPr>
            <a:r>
              <a:t/>
            </a:r>
            <a:endParaRPr sz="1300">
              <a:solidFill>
                <a:schemeClr val="dk1"/>
              </a:solidFill>
            </a:endParaRPr>
          </a:p>
        </p:txBody>
      </p:sp>
      <p:sp>
        <p:nvSpPr>
          <p:cNvPr id="98" name="Google Shape;98;p19"/>
          <p:cNvSpPr txBox="1"/>
          <p:nvPr/>
        </p:nvSpPr>
        <p:spPr>
          <a:xfrm>
            <a:off x="2660275" y="3356513"/>
            <a:ext cx="3454500" cy="2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Fig - 1. COBREX Architecture</a:t>
            </a:r>
            <a:endParaRPr sz="16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A-COBREX -</a:t>
            </a:r>
            <a:r>
              <a:rPr lang="en" sz="2577"/>
              <a:t> </a:t>
            </a:r>
            <a:r>
              <a:rPr lang="en" sz="2100">
                <a:highlight>
                  <a:srgbClr val="FFFFFF"/>
                </a:highlight>
              </a:rPr>
              <a:t>A Tool for Identifying Business Rules in COBOL Programs</a:t>
            </a:r>
            <a:endParaRPr sz="2100">
              <a:highlight>
                <a:srgbClr val="FFFFFF"/>
              </a:highlight>
            </a:endParaRPr>
          </a:p>
          <a:p>
            <a:pPr indent="0" lvl="0" marL="0" rtl="0" algn="ctr">
              <a:lnSpc>
                <a:spcPct val="115000"/>
              </a:lnSpc>
              <a:spcBef>
                <a:spcPts val="0"/>
              </a:spcBef>
              <a:spcAft>
                <a:spcPts val="0"/>
              </a:spcAft>
              <a:buClr>
                <a:schemeClr val="dk1"/>
              </a:buClr>
              <a:buSzPct val="100000"/>
              <a:buFont typeface="Arial"/>
              <a:buNone/>
            </a:pPr>
            <a:r>
              <a:t/>
            </a:r>
            <a:endParaRPr sz="1100"/>
          </a:p>
          <a:p>
            <a:pPr indent="0" lvl="0" marL="0" rtl="0" algn="ctr">
              <a:spcBef>
                <a:spcPts val="0"/>
              </a:spcBef>
              <a:spcAft>
                <a:spcPts val="0"/>
              </a:spcAft>
              <a:buNone/>
            </a:pPr>
            <a:r>
              <a:t/>
            </a:r>
            <a:endParaRPr/>
          </a:p>
        </p:txBody>
      </p:sp>
      <p:sp>
        <p:nvSpPr>
          <p:cNvPr id="104" name="Google Shape;104;p20"/>
          <p:cNvSpPr txBox="1"/>
          <p:nvPr>
            <p:ph idx="1" type="body"/>
          </p:nvPr>
        </p:nvSpPr>
        <p:spPr>
          <a:xfrm>
            <a:off x="311700" y="3197775"/>
            <a:ext cx="3418800" cy="1012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sz="1400">
                <a:solidFill>
                  <a:schemeClr val="dk1"/>
                </a:solidFill>
              </a:rPr>
              <a:t>Extends COBREX</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Builds </a:t>
            </a:r>
            <a:r>
              <a:rPr b="1" lang="en" sz="1400">
                <a:solidFill>
                  <a:schemeClr val="dk1"/>
                </a:solidFill>
              </a:rPr>
              <a:t>BRR (Business Rule Realizations)</a:t>
            </a:r>
            <a:endParaRPr b="1"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Produces structured, coherent business rules</a:t>
            </a:r>
            <a:endParaRPr sz="1400">
              <a:solidFill>
                <a:schemeClr val="dk1"/>
              </a:solidFill>
            </a:endParaRPr>
          </a:p>
        </p:txBody>
      </p:sp>
      <p:pic>
        <p:nvPicPr>
          <p:cNvPr id="105" name="Google Shape;105;p20" title="a-cobrex-fig.png"/>
          <p:cNvPicPr preferRelativeResize="0"/>
          <p:nvPr/>
        </p:nvPicPr>
        <p:blipFill rotWithShape="1">
          <a:blip r:embed="rId3">
            <a:alphaModFix/>
          </a:blip>
          <a:srcRect b="0" l="4594" r="4956" t="14595"/>
          <a:stretch/>
        </p:blipFill>
        <p:spPr>
          <a:xfrm>
            <a:off x="311700" y="1192425"/>
            <a:ext cx="8270451" cy="1681200"/>
          </a:xfrm>
          <a:prstGeom prst="rect">
            <a:avLst/>
          </a:prstGeom>
          <a:noFill/>
          <a:ln>
            <a:noFill/>
          </a:ln>
        </p:spPr>
      </p:pic>
      <p:sp>
        <p:nvSpPr>
          <p:cNvPr id="106" name="Google Shape;106;p20"/>
          <p:cNvSpPr txBox="1"/>
          <p:nvPr>
            <p:ph idx="1" type="body"/>
          </p:nvPr>
        </p:nvSpPr>
        <p:spPr>
          <a:xfrm>
            <a:off x="4572000" y="3197775"/>
            <a:ext cx="3418800" cy="1012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400">
                <a:solidFill>
                  <a:schemeClr val="dk1"/>
                </a:solidFill>
              </a:rPr>
              <a:t>Uses:</a:t>
            </a:r>
            <a:endParaRPr sz="1400">
              <a:solidFill>
                <a:schemeClr val="dk1"/>
              </a:solidFill>
            </a:endParaRPr>
          </a:p>
          <a:p>
            <a:pPr indent="-298450" lvl="0" marL="457200" rtl="0" algn="l">
              <a:spcBef>
                <a:spcPts val="1200"/>
              </a:spcBef>
              <a:spcAft>
                <a:spcPts val="0"/>
              </a:spcAft>
              <a:buClr>
                <a:schemeClr val="dk1"/>
              </a:buClr>
              <a:buSzPts val="1100"/>
              <a:buChar char="●"/>
            </a:pPr>
            <a:r>
              <a:rPr lang="en" sz="1400">
                <a:solidFill>
                  <a:schemeClr val="dk1"/>
                </a:solidFill>
              </a:rPr>
              <a:t>Control dependencies</a:t>
            </a:r>
            <a:endParaRPr sz="1400">
              <a:solidFill>
                <a:schemeClr val="dk1"/>
              </a:solidFill>
            </a:endParaRPr>
          </a:p>
          <a:p>
            <a:pPr indent="-298450" lvl="0" marL="457200" rtl="0" algn="l">
              <a:spcBef>
                <a:spcPts val="0"/>
              </a:spcBef>
              <a:spcAft>
                <a:spcPts val="0"/>
              </a:spcAft>
              <a:buClr>
                <a:schemeClr val="dk1"/>
              </a:buClr>
              <a:buSzPts val="1100"/>
              <a:buChar char="●"/>
            </a:pPr>
            <a:r>
              <a:rPr lang="en" sz="1400">
                <a:solidFill>
                  <a:schemeClr val="dk1"/>
                </a:solidFill>
              </a:rPr>
              <a:t>Variable sharing</a:t>
            </a:r>
            <a:endParaRPr sz="1400">
              <a:solidFill>
                <a:schemeClr val="dk1"/>
              </a:solidFill>
            </a:endParaRPr>
          </a:p>
          <a:p>
            <a:pPr indent="-298450" lvl="0" marL="457200" rtl="0" algn="l">
              <a:spcBef>
                <a:spcPts val="0"/>
              </a:spcBef>
              <a:spcAft>
                <a:spcPts val="0"/>
              </a:spcAft>
              <a:buClr>
                <a:schemeClr val="dk1"/>
              </a:buClr>
              <a:buSzPts val="1100"/>
              <a:buChar char="●"/>
            </a:pPr>
            <a:r>
              <a:rPr lang="en" sz="1400">
                <a:solidFill>
                  <a:schemeClr val="dk1"/>
                </a:solidFill>
              </a:rPr>
              <a:t>Multi-variable grouping</a:t>
            </a:r>
            <a:endParaRPr sz="1400">
              <a:solidFill>
                <a:schemeClr val="dk1"/>
              </a:solidFill>
            </a:endParaRPr>
          </a:p>
          <a:p>
            <a:pPr indent="0" lvl="0" marL="457200" rtl="0" algn="l">
              <a:spcBef>
                <a:spcPts val="1200"/>
              </a:spcBef>
              <a:spcAft>
                <a:spcPts val="1200"/>
              </a:spcAft>
              <a:buNone/>
            </a:pPr>
            <a:r>
              <a:t/>
            </a:r>
            <a:endParaRPr sz="1400">
              <a:solidFill>
                <a:schemeClr val="dk1"/>
              </a:solidFill>
            </a:endParaRPr>
          </a:p>
        </p:txBody>
      </p:sp>
      <p:sp>
        <p:nvSpPr>
          <p:cNvPr id="107" name="Google Shape;107;p20"/>
          <p:cNvSpPr txBox="1"/>
          <p:nvPr/>
        </p:nvSpPr>
        <p:spPr>
          <a:xfrm>
            <a:off x="2844750" y="2723400"/>
            <a:ext cx="3454500" cy="2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Fig - 2. A-COBREX Architecture</a:t>
            </a:r>
            <a:endParaRPr sz="16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258225"/>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1200"/>
              </a:spcBef>
              <a:spcAft>
                <a:spcPts val="0"/>
              </a:spcAft>
              <a:buClr>
                <a:schemeClr val="dk1"/>
              </a:buClr>
              <a:buSzPct val="39285"/>
              <a:buFont typeface="Arial"/>
              <a:buNone/>
            </a:pPr>
            <a:r>
              <a:rPr lang="en"/>
              <a:t>COMEX - Customized Source Code Representations</a:t>
            </a:r>
            <a:endParaRPr/>
          </a:p>
          <a:p>
            <a:pPr indent="0" lvl="0" marL="0" rtl="0" algn="ctr">
              <a:lnSpc>
                <a:spcPct val="115000"/>
              </a:lnSpc>
              <a:spcBef>
                <a:spcPts val="1200"/>
              </a:spcBef>
              <a:spcAft>
                <a:spcPts val="1200"/>
              </a:spcAft>
              <a:buNone/>
            </a:pPr>
            <a:r>
              <a:t/>
            </a:r>
            <a:endParaRPr/>
          </a:p>
        </p:txBody>
      </p:sp>
      <p:sp>
        <p:nvSpPr>
          <p:cNvPr id="113" name="Google Shape;113;p21"/>
          <p:cNvSpPr txBox="1"/>
          <p:nvPr>
            <p:ph idx="1" type="body"/>
          </p:nvPr>
        </p:nvSpPr>
        <p:spPr>
          <a:xfrm>
            <a:off x="122400" y="4409500"/>
            <a:ext cx="9144000" cy="4335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275"/>
              <a:buFont typeface="Arial"/>
              <a:buNone/>
            </a:pPr>
            <a:r>
              <a:rPr lang="en" sz="1250">
                <a:solidFill>
                  <a:schemeClr val="dk1"/>
                </a:solidFill>
              </a:rPr>
              <a:t>It extracts AST, CFG, and DFG to capture the program’s structure, control flow, and data movement, helping understand loops, branches, and key semantic patterns.</a:t>
            </a:r>
            <a:endParaRPr sz="1250">
              <a:solidFill>
                <a:schemeClr val="dk1"/>
              </a:solidFill>
            </a:endParaRPr>
          </a:p>
          <a:p>
            <a:pPr indent="0" lvl="0" marL="0" rtl="0" algn="l">
              <a:lnSpc>
                <a:spcPct val="95000"/>
              </a:lnSpc>
              <a:spcBef>
                <a:spcPts val="1200"/>
              </a:spcBef>
              <a:spcAft>
                <a:spcPts val="1200"/>
              </a:spcAft>
              <a:buSzPts val="275"/>
              <a:buNone/>
            </a:pPr>
            <a:r>
              <a:t/>
            </a:r>
            <a:endParaRPr sz="1050">
              <a:solidFill>
                <a:schemeClr val="dk1"/>
              </a:solidFill>
            </a:endParaRPr>
          </a:p>
        </p:txBody>
      </p:sp>
      <p:pic>
        <p:nvPicPr>
          <p:cNvPr id="114" name="Google Shape;114;p21" title="comex-fig.png"/>
          <p:cNvPicPr preferRelativeResize="0"/>
          <p:nvPr/>
        </p:nvPicPr>
        <p:blipFill rotWithShape="1">
          <a:blip r:embed="rId3">
            <a:alphaModFix/>
          </a:blip>
          <a:srcRect b="3042" l="3413" r="5078" t="6672"/>
          <a:stretch/>
        </p:blipFill>
        <p:spPr>
          <a:xfrm>
            <a:off x="791075" y="830925"/>
            <a:ext cx="7067651" cy="3141174"/>
          </a:xfrm>
          <a:prstGeom prst="rect">
            <a:avLst/>
          </a:prstGeom>
          <a:noFill/>
          <a:ln>
            <a:noFill/>
          </a:ln>
        </p:spPr>
      </p:pic>
      <p:sp>
        <p:nvSpPr>
          <p:cNvPr id="115" name="Google Shape;115;p21"/>
          <p:cNvSpPr txBox="1"/>
          <p:nvPr/>
        </p:nvSpPr>
        <p:spPr>
          <a:xfrm>
            <a:off x="2844750" y="3972100"/>
            <a:ext cx="3454500" cy="2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Fig - 3. COMEX Architecture</a:t>
            </a:r>
            <a:endParaRPr sz="1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1200"/>
              </a:spcAft>
              <a:buClr>
                <a:schemeClr val="dk1"/>
              </a:buClr>
              <a:buSzPts val="1100"/>
              <a:buFont typeface="Arial"/>
              <a:buNone/>
            </a:pPr>
            <a:r>
              <a:rPr lang="en" sz="2400"/>
              <a:t>A Mocktail of Source Code Representations</a:t>
            </a:r>
            <a:endParaRPr sz="2400"/>
          </a:p>
        </p:txBody>
      </p:sp>
      <p:sp>
        <p:nvSpPr>
          <p:cNvPr id="121" name="Google Shape;121;p22"/>
          <p:cNvSpPr txBox="1"/>
          <p:nvPr>
            <p:ph idx="1" type="body"/>
          </p:nvPr>
        </p:nvSpPr>
        <p:spPr>
          <a:xfrm>
            <a:off x="348750" y="4422875"/>
            <a:ext cx="8446500" cy="5331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1200"/>
              </a:spcAft>
              <a:buNone/>
            </a:pPr>
            <a:r>
              <a:rPr lang="en" sz="1200">
                <a:solidFill>
                  <a:schemeClr val="dk1"/>
                </a:solidFill>
              </a:rPr>
              <a:t>Mocktail mixes different code representations (AST, CFG, PDG) to capture complementary program features for C language.</a:t>
            </a:r>
            <a:endParaRPr sz="1200"/>
          </a:p>
        </p:txBody>
      </p:sp>
      <p:pic>
        <p:nvPicPr>
          <p:cNvPr id="122" name="Google Shape;122;p22" title="mocktail-fig.png"/>
          <p:cNvPicPr preferRelativeResize="0"/>
          <p:nvPr/>
        </p:nvPicPr>
        <p:blipFill rotWithShape="1">
          <a:blip r:embed="rId3">
            <a:alphaModFix/>
          </a:blip>
          <a:srcRect b="0" l="4222" r="1739" t="8054"/>
          <a:stretch/>
        </p:blipFill>
        <p:spPr>
          <a:xfrm>
            <a:off x="789275" y="1017725"/>
            <a:ext cx="7218725" cy="2997650"/>
          </a:xfrm>
          <a:prstGeom prst="rect">
            <a:avLst/>
          </a:prstGeom>
          <a:noFill/>
          <a:ln>
            <a:noFill/>
          </a:ln>
        </p:spPr>
      </p:pic>
      <p:sp>
        <p:nvSpPr>
          <p:cNvPr id="123" name="Google Shape;123;p22"/>
          <p:cNvSpPr txBox="1"/>
          <p:nvPr/>
        </p:nvSpPr>
        <p:spPr>
          <a:xfrm>
            <a:off x="2844750" y="4015375"/>
            <a:ext cx="3454500" cy="2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Fig - 4. Mocktail Architecture</a:t>
            </a:r>
            <a:endParaRPr sz="1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223250"/>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1200"/>
              </a:spcAft>
              <a:buClr>
                <a:schemeClr val="dk1"/>
              </a:buClr>
              <a:buSzPts val="1100"/>
              <a:buFont typeface="Arial"/>
              <a:buNone/>
            </a:pPr>
            <a:r>
              <a:rPr lang="en" sz="1900"/>
              <a:t>Enhancing COBOL Code Explanations with Multi-Agents Using Large Language Models</a:t>
            </a:r>
            <a:endParaRPr sz="1900"/>
          </a:p>
        </p:txBody>
      </p:sp>
      <p:sp>
        <p:nvSpPr>
          <p:cNvPr id="129" name="Google Shape;129;p23"/>
          <p:cNvSpPr txBox="1"/>
          <p:nvPr>
            <p:ph idx="1" type="body"/>
          </p:nvPr>
        </p:nvSpPr>
        <p:spPr>
          <a:xfrm>
            <a:off x="311700" y="4218150"/>
            <a:ext cx="8520600" cy="10749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None/>
            </a:pPr>
            <a:r>
              <a:rPr lang="en" sz="1200">
                <a:solidFill>
                  <a:schemeClr val="dk1"/>
                </a:solidFill>
              </a:rPr>
              <a:t>I</a:t>
            </a:r>
            <a:r>
              <a:rPr lang="en" sz="1200">
                <a:solidFill>
                  <a:schemeClr val="dk1"/>
                </a:solidFill>
              </a:rPr>
              <a:t>ntroduces a multi-agent system in which a Code Agent summarizes each COBOL function and a Text Agent combines them into a complete file explanation and then to project level explanations.</a:t>
            </a:r>
            <a:endParaRPr sz="1200">
              <a:solidFill>
                <a:schemeClr val="dk1"/>
              </a:solidFill>
            </a:endParaRPr>
          </a:p>
        </p:txBody>
      </p:sp>
      <p:pic>
        <p:nvPicPr>
          <p:cNvPr id="130" name="Google Shape;130;p23" title="multi-agents-fig.png"/>
          <p:cNvPicPr preferRelativeResize="0"/>
          <p:nvPr/>
        </p:nvPicPr>
        <p:blipFill rotWithShape="1">
          <a:blip r:embed="rId3">
            <a:alphaModFix/>
          </a:blip>
          <a:srcRect b="2594" l="3410" r="3410" t="4078"/>
          <a:stretch/>
        </p:blipFill>
        <p:spPr>
          <a:xfrm>
            <a:off x="635600" y="1019450"/>
            <a:ext cx="7476026" cy="2793650"/>
          </a:xfrm>
          <a:prstGeom prst="rect">
            <a:avLst/>
          </a:prstGeom>
          <a:noFill/>
          <a:ln>
            <a:noFill/>
          </a:ln>
        </p:spPr>
      </p:pic>
      <p:sp>
        <p:nvSpPr>
          <p:cNvPr id="131" name="Google Shape;131;p23"/>
          <p:cNvSpPr txBox="1"/>
          <p:nvPr/>
        </p:nvSpPr>
        <p:spPr>
          <a:xfrm>
            <a:off x="2734925" y="3813100"/>
            <a:ext cx="3454500" cy="2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Fig - 5. Multi-Agent Architecture</a:t>
            </a:r>
            <a:endParaRPr sz="16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Overall Pipeline Architecture</a:t>
            </a:r>
            <a:endParaRPr/>
          </a:p>
        </p:txBody>
      </p:sp>
      <p:pic>
        <p:nvPicPr>
          <p:cNvPr id="137" name="Google Shape;137;p24" title="mtp_pipeline.png"/>
          <p:cNvPicPr preferRelativeResize="0"/>
          <p:nvPr/>
        </p:nvPicPr>
        <p:blipFill rotWithShape="1">
          <a:blip r:embed="rId3">
            <a:alphaModFix/>
          </a:blip>
          <a:srcRect b="4834" l="3169" r="3607" t="12239"/>
          <a:stretch/>
        </p:blipFill>
        <p:spPr>
          <a:xfrm>
            <a:off x="451800" y="1017726"/>
            <a:ext cx="8240400" cy="2826099"/>
          </a:xfrm>
          <a:prstGeom prst="rect">
            <a:avLst/>
          </a:prstGeom>
          <a:noFill/>
          <a:ln>
            <a:noFill/>
          </a:ln>
        </p:spPr>
      </p:pic>
      <p:sp>
        <p:nvSpPr>
          <p:cNvPr id="138" name="Google Shape;138;p24"/>
          <p:cNvSpPr txBox="1"/>
          <p:nvPr/>
        </p:nvSpPr>
        <p:spPr>
          <a:xfrm>
            <a:off x="311700" y="4550200"/>
            <a:ext cx="8240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Here generation of Source code representations and Mocktail blocks are </a:t>
            </a:r>
            <a:r>
              <a:rPr lang="en" sz="1200">
                <a:solidFill>
                  <a:schemeClr val="dk1"/>
                </a:solidFill>
              </a:rPr>
              <a:t>explained</a:t>
            </a:r>
            <a:r>
              <a:rPr lang="en" sz="1200">
                <a:solidFill>
                  <a:schemeClr val="dk1"/>
                </a:solidFill>
              </a:rPr>
              <a:t> in detail in Fig- 7 and 15.</a:t>
            </a:r>
            <a:endParaRPr sz="1200">
              <a:solidFill>
                <a:schemeClr val="dk1"/>
              </a:solidFill>
            </a:endParaRPr>
          </a:p>
        </p:txBody>
      </p:sp>
      <p:sp>
        <p:nvSpPr>
          <p:cNvPr id="139" name="Google Shape;139;p24"/>
          <p:cNvSpPr txBox="1"/>
          <p:nvPr/>
        </p:nvSpPr>
        <p:spPr>
          <a:xfrm>
            <a:off x="3072000" y="3843825"/>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Fig - 6. Pipeline</a:t>
            </a:r>
            <a:endParaRPr sz="16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Generation of different Source Code representations</a:t>
            </a:r>
            <a:endParaRPr/>
          </a:p>
        </p:txBody>
      </p:sp>
      <p:sp>
        <p:nvSpPr>
          <p:cNvPr id="145" name="Google Shape;145;p25"/>
          <p:cNvSpPr txBox="1"/>
          <p:nvPr>
            <p:ph idx="1" type="body"/>
          </p:nvPr>
        </p:nvSpPr>
        <p:spPr>
          <a:xfrm>
            <a:off x="5738800" y="1145225"/>
            <a:ext cx="3405300" cy="4305600"/>
          </a:xfrm>
          <a:prstGeom prst="rect">
            <a:avLst/>
          </a:prstGeom>
        </p:spPr>
        <p:txBody>
          <a:bodyPr anchorCtr="0" anchor="t" bIns="91425" lIns="91425" spcFirstLastPara="1" rIns="91425" wrap="square" tIns="91425">
            <a:normAutofit fontScale="77500" lnSpcReduction="10000"/>
          </a:bodyPr>
          <a:lstStyle/>
          <a:p>
            <a:pPr indent="0" lvl="0" marL="0" rtl="0" algn="l">
              <a:spcBef>
                <a:spcPts val="1400"/>
              </a:spcBef>
              <a:spcAft>
                <a:spcPts val="0"/>
              </a:spcAft>
              <a:buNone/>
            </a:pPr>
            <a:r>
              <a:rPr b="1" lang="en" sz="1300">
                <a:solidFill>
                  <a:schemeClr val="dk1"/>
                </a:solidFill>
              </a:rPr>
              <a:t>AST (Abstract Syntax Tree)</a:t>
            </a:r>
            <a:endParaRPr b="1" sz="1300">
              <a:solidFill>
                <a:schemeClr val="dk1"/>
              </a:solidFill>
            </a:endParaRPr>
          </a:p>
          <a:p>
            <a:pPr indent="-282733" lvl="0" marL="457200" rtl="0" algn="l">
              <a:spcBef>
                <a:spcPts val="1200"/>
              </a:spcBef>
              <a:spcAft>
                <a:spcPts val="0"/>
              </a:spcAft>
              <a:buClr>
                <a:schemeClr val="dk1"/>
              </a:buClr>
              <a:buSzPct val="100000"/>
              <a:buChar char="●"/>
            </a:pPr>
            <a:r>
              <a:rPr lang="en" sz="1100">
                <a:solidFill>
                  <a:schemeClr val="dk1"/>
                </a:solidFill>
              </a:rPr>
              <a:t>Tree structure showing the </a:t>
            </a:r>
            <a:r>
              <a:rPr b="1" lang="en" sz="1100">
                <a:solidFill>
                  <a:schemeClr val="dk1"/>
                </a:solidFill>
              </a:rPr>
              <a:t>syntactic structure</a:t>
            </a:r>
            <a:r>
              <a:rPr lang="en" sz="1100">
                <a:solidFill>
                  <a:schemeClr val="dk1"/>
                </a:solidFill>
              </a:rPr>
              <a:t> of the COBOL program.</a:t>
            </a:r>
            <a:endParaRPr sz="1100">
              <a:solidFill>
                <a:schemeClr val="dk1"/>
              </a:solidFill>
            </a:endParaRPr>
          </a:p>
          <a:p>
            <a:pPr indent="-282733" lvl="0" marL="457200" rtl="0" algn="l">
              <a:spcBef>
                <a:spcPts val="0"/>
              </a:spcBef>
              <a:spcAft>
                <a:spcPts val="0"/>
              </a:spcAft>
              <a:buClr>
                <a:schemeClr val="dk1"/>
              </a:buClr>
              <a:buSzPct val="100000"/>
              <a:buChar char="●"/>
            </a:pPr>
            <a:r>
              <a:rPr lang="en" sz="1100">
                <a:solidFill>
                  <a:schemeClr val="dk1"/>
                </a:solidFill>
              </a:rPr>
              <a:t>Captures statements, expressions, and hierarchy of code blocks.</a:t>
            </a:r>
            <a:endParaRPr sz="1100">
              <a:solidFill>
                <a:schemeClr val="dk1"/>
              </a:solidFill>
            </a:endParaRPr>
          </a:p>
          <a:p>
            <a:pPr indent="0" lvl="0" marL="0" rtl="0" algn="l">
              <a:spcBef>
                <a:spcPts val="1400"/>
              </a:spcBef>
              <a:spcAft>
                <a:spcPts val="0"/>
              </a:spcAft>
              <a:buNone/>
            </a:pPr>
            <a:r>
              <a:rPr b="1" lang="en" sz="1300">
                <a:solidFill>
                  <a:schemeClr val="dk1"/>
                </a:solidFill>
              </a:rPr>
              <a:t>CFG (Control Flow Graph)</a:t>
            </a:r>
            <a:endParaRPr b="1" sz="1300">
              <a:solidFill>
                <a:schemeClr val="dk1"/>
              </a:solidFill>
            </a:endParaRPr>
          </a:p>
          <a:p>
            <a:pPr indent="-282733" lvl="0" marL="457200" rtl="0" algn="l">
              <a:spcBef>
                <a:spcPts val="1200"/>
              </a:spcBef>
              <a:spcAft>
                <a:spcPts val="0"/>
              </a:spcAft>
              <a:buClr>
                <a:schemeClr val="dk1"/>
              </a:buClr>
              <a:buSzPct val="100000"/>
              <a:buChar char="●"/>
            </a:pPr>
            <a:r>
              <a:rPr lang="en" sz="1100">
                <a:solidFill>
                  <a:schemeClr val="dk1"/>
                </a:solidFill>
              </a:rPr>
              <a:t>Directed graph showing </a:t>
            </a:r>
            <a:r>
              <a:rPr b="1" lang="en" sz="1100">
                <a:solidFill>
                  <a:schemeClr val="dk1"/>
                </a:solidFill>
              </a:rPr>
              <a:t>execution order</a:t>
            </a:r>
            <a:r>
              <a:rPr lang="en" sz="1100">
                <a:solidFill>
                  <a:schemeClr val="dk1"/>
                </a:solidFill>
              </a:rPr>
              <a:t> of statements.</a:t>
            </a:r>
            <a:endParaRPr sz="1100">
              <a:solidFill>
                <a:schemeClr val="dk1"/>
              </a:solidFill>
            </a:endParaRPr>
          </a:p>
          <a:p>
            <a:pPr indent="-282733" lvl="0" marL="457200" rtl="0" algn="l">
              <a:spcBef>
                <a:spcPts val="0"/>
              </a:spcBef>
              <a:spcAft>
                <a:spcPts val="0"/>
              </a:spcAft>
              <a:buClr>
                <a:schemeClr val="dk1"/>
              </a:buClr>
              <a:buSzPct val="100000"/>
              <a:buChar char="●"/>
            </a:pPr>
            <a:r>
              <a:rPr lang="en" sz="1100">
                <a:solidFill>
                  <a:schemeClr val="dk1"/>
                </a:solidFill>
              </a:rPr>
              <a:t>Nodes = statements; Edges = control flow between blocks.</a:t>
            </a:r>
            <a:endParaRPr sz="1100">
              <a:solidFill>
                <a:schemeClr val="dk1"/>
              </a:solidFill>
            </a:endParaRPr>
          </a:p>
          <a:p>
            <a:pPr indent="0" lvl="0" marL="0" rtl="0" algn="l">
              <a:spcBef>
                <a:spcPts val="1400"/>
              </a:spcBef>
              <a:spcAft>
                <a:spcPts val="0"/>
              </a:spcAft>
              <a:buNone/>
            </a:pPr>
            <a:r>
              <a:rPr b="1" lang="en" sz="1300">
                <a:solidFill>
                  <a:schemeClr val="dk1"/>
                </a:solidFill>
              </a:rPr>
              <a:t>RDA (Reaching Definition Analysis)</a:t>
            </a:r>
            <a:endParaRPr b="1" sz="1300">
              <a:solidFill>
                <a:schemeClr val="dk1"/>
              </a:solidFill>
            </a:endParaRPr>
          </a:p>
          <a:p>
            <a:pPr indent="-282733" lvl="0" marL="457200" rtl="0" algn="l">
              <a:spcBef>
                <a:spcPts val="1200"/>
              </a:spcBef>
              <a:spcAft>
                <a:spcPts val="0"/>
              </a:spcAft>
              <a:buClr>
                <a:schemeClr val="dk1"/>
              </a:buClr>
              <a:buSzPct val="100000"/>
              <a:buChar char="●"/>
            </a:pPr>
            <a:r>
              <a:rPr lang="en" sz="1100">
                <a:solidFill>
                  <a:schemeClr val="dk1"/>
                </a:solidFill>
              </a:rPr>
              <a:t>Data-flow analysis to track </a:t>
            </a:r>
            <a:r>
              <a:rPr b="1" lang="en" sz="1100">
                <a:solidFill>
                  <a:schemeClr val="dk1"/>
                </a:solidFill>
              </a:rPr>
              <a:t>which variable definitions reach which program points</a:t>
            </a:r>
            <a:r>
              <a:rPr lang="en" sz="1100">
                <a:solidFill>
                  <a:schemeClr val="dk1"/>
                </a:solidFill>
              </a:rPr>
              <a:t>.</a:t>
            </a:r>
            <a:endParaRPr sz="1100">
              <a:solidFill>
                <a:schemeClr val="dk1"/>
              </a:solidFill>
            </a:endParaRPr>
          </a:p>
          <a:p>
            <a:pPr indent="-282733" lvl="0" marL="457200" rtl="0" algn="l">
              <a:spcBef>
                <a:spcPts val="0"/>
              </a:spcBef>
              <a:spcAft>
                <a:spcPts val="0"/>
              </a:spcAft>
              <a:buClr>
                <a:schemeClr val="dk1"/>
              </a:buClr>
              <a:buSzPct val="100000"/>
              <a:buChar char="●"/>
            </a:pPr>
            <a:r>
              <a:rPr lang="en" sz="1100">
                <a:solidFill>
                  <a:schemeClr val="dk1"/>
                </a:solidFill>
              </a:rPr>
              <a:t>Basis for computing data dependencies.</a:t>
            </a:r>
            <a:endParaRPr sz="1100">
              <a:solidFill>
                <a:schemeClr val="dk1"/>
              </a:solidFill>
            </a:endParaRPr>
          </a:p>
          <a:p>
            <a:pPr indent="0" lvl="0" marL="0" rtl="0" algn="l">
              <a:spcBef>
                <a:spcPts val="1400"/>
              </a:spcBef>
              <a:spcAft>
                <a:spcPts val="0"/>
              </a:spcAft>
              <a:buNone/>
            </a:pPr>
            <a:r>
              <a:rPr b="1" lang="en" sz="1300">
                <a:solidFill>
                  <a:schemeClr val="dk1"/>
                </a:solidFill>
              </a:rPr>
              <a:t>DFG (Data Flow Graph)</a:t>
            </a:r>
            <a:endParaRPr b="1" sz="1300">
              <a:solidFill>
                <a:schemeClr val="dk1"/>
              </a:solidFill>
            </a:endParaRPr>
          </a:p>
          <a:p>
            <a:pPr indent="-282733" lvl="0" marL="457200" rtl="0" algn="l">
              <a:spcBef>
                <a:spcPts val="1200"/>
              </a:spcBef>
              <a:spcAft>
                <a:spcPts val="0"/>
              </a:spcAft>
              <a:buClr>
                <a:schemeClr val="dk1"/>
              </a:buClr>
              <a:buSzPct val="100000"/>
              <a:buChar char="●"/>
            </a:pPr>
            <a:r>
              <a:rPr lang="en" sz="1100">
                <a:solidFill>
                  <a:schemeClr val="dk1"/>
                </a:solidFill>
              </a:rPr>
              <a:t>Graph showing </a:t>
            </a:r>
            <a:r>
              <a:rPr b="1" lang="en" sz="1100">
                <a:solidFill>
                  <a:schemeClr val="dk1"/>
                </a:solidFill>
              </a:rPr>
              <a:t>how data moves</a:t>
            </a:r>
            <a:r>
              <a:rPr lang="en" sz="1100">
                <a:solidFill>
                  <a:schemeClr val="dk1"/>
                </a:solidFill>
              </a:rPr>
              <a:t> between statements.</a:t>
            </a:r>
            <a:endParaRPr sz="1100">
              <a:solidFill>
                <a:schemeClr val="dk1"/>
              </a:solidFill>
            </a:endParaRPr>
          </a:p>
          <a:p>
            <a:pPr indent="-282733" lvl="0" marL="457200" rtl="0" algn="l">
              <a:spcBef>
                <a:spcPts val="0"/>
              </a:spcBef>
              <a:spcAft>
                <a:spcPts val="0"/>
              </a:spcAft>
              <a:buClr>
                <a:schemeClr val="dk1"/>
              </a:buClr>
              <a:buSzPct val="100000"/>
              <a:buChar char="●"/>
            </a:pPr>
            <a:r>
              <a:rPr lang="en" sz="1100">
                <a:solidFill>
                  <a:schemeClr val="dk1"/>
                </a:solidFill>
              </a:rPr>
              <a:t>Nodes = operations; Edges = def–use or use–def relationships.</a:t>
            </a:r>
            <a:endParaRPr sz="1100">
              <a:solidFill>
                <a:schemeClr val="dk1"/>
              </a:solidFill>
            </a:endParaRPr>
          </a:p>
          <a:p>
            <a:pPr indent="0" lvl="0" marL="0" rtl="0" algn="l">
              <a:spcBef>
                <a:spcPts val="1200"/>
              </a:spcBef>
              <a:spcAft>
                <a:spcPts val="1200"/>
              </a:spcAft>
              <a:buNone/>
            </a:pPr>
            <a:r>
              <a:t/>
            </a:r>
            <a:endParaRPr/>
          </a:p>
        </p:txBody>
      </p:sp>
      <p:pic>
        <p:nvPicPr>
          <p:cNvPr id="146" name="Google Shape;146;p25" title="artifacts.png"/>
          <p:cNvPicPr preferRelativeResize="0"/>
          <p:nvPr/>
        </p:nvPicPr>
        <p:blipFill rotWithShape="1">
          <a:blip r:embed="rId3">
            <a:alphaModFix/>
          </a:blip>
          <a:srcRect b="25810" l="19633" r="19845" t="28271"/>
          <a:stretch/>
        </p:blipFill>
        <p:spPr>
          <a:xfrm>
            <a:off x="204650" y="1285275"/>
            <a:ext cx="5534150" cy="2928050"/>
          </a:xfrm>
          <a:prstGeom prst="rect">
            <a:avLst/>
          </a:prstGeom>
          <a:noFill/>
          <a:ln>
            <a:noFill/>
          </a:ln>
        </p:spPr>
      </p:pic>
      <p:sp>
        <p:nvSpPr>
          <p:cNvPr id="147" name="Google Shape;147;p25"/>
          <p:cNvSpPr txBox="1"/>
          <p:nvPr/>
        </p:nvSpPr>
        <p:spPr>
          <a:xfrm>
            <a:off x="778575" y="4288400"/>
            <a:ext cx="386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Fig - 7. Source Code Representations</a:t>
            </a:r>
            <a:endParaRPr sz="1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2420"/>
              <a:t>Generation of different Source Code representations (cont.)</a:t>
            </a:r>
            <a:endParaRPr sz="2420"/>
          </a:p>
          <a:p>
            <a:pPr indent="0" lvl="0" marL="0" rtl="0" algn="l">
              <a:spcBef>
                <a:spcPts val="0"/>
              </a:spcBef>
              <a:spcAft>
                <a:spcPts val="0"/>
              </a:spcAft>
              <a:buSzPts val="990"/>
              <a:buNone/>
            </a:pPr>
            <a:r>
              <a:t/>
            </a:r>
            <a:endParaRPr sz="2420"/>
          </a:p>
        </p:txBody>
      </p:sp>
      <p:sp>
        <p:nvSpPr>
          <p:cNvPr id="153" name="Google Shape;153;p26"/>
          <p:cNvSpPr txBox="1"/>
          <p:nvPr>
            <p:ph idx="1" type="body"/>
          </p:nvPr>
        </p:nvSpPr>
        <p:spPr>
          <a:xfrm>
            <a:off x="311700" y="1152475"/>
            <a:ext cx="8520600" cy="38223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chemeClr val="dk1"/>
                </a:solidFill>
              </a:rPr>
              <a:t>CDG (Control Dependence Graph)</a:t>
            </a:r>
            <a:endParaRPr b="1" sz="13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Shows </a:t>
            </a:r>
            <a:r>
              <a:rPr b="1" lang="en" sz="1100">
                <a:solidFill>
                  <a:schemeClr val="dk1"/>
                </a:solidFill>
              </a:rPr>
              <a:t>how execution of one statement depends on a condition</a:t>
            </a:r>
            <a:r>
              <a:rPr lang="en"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Derived from CFG using PDT and FOW algorithms.</a:t>
            </a:r>
            <a:endParaRPr sz="1100">
              <a:solidFill>
                <a:schemeClr val="dk1"/>
              </a:solidFill>
            </a:endParaRPr>
          </a:p>
          <a:p>
            <a:pPr indent="0" lvl="0" marL="0" rtl="0" algn="l">
              <a:spcBef>
                <a:spcPts val="1400"/>
              </a:spcBef>
              <a:spcAft>
                <a:spcPts val="0"/>
              </a:spcAft>
              <a:buNone/>
            </a:pPr>
            <a:r>
              <a:rPr b="1" lang="en" sz="1300">
                <a:solidFill>
                  <a:schemeClr val="dk1"/>
                </a:solidFill>
              </a:rPr>
              <a:t>DDG (Data Dependence Graph)</a:t>
            </a:r>
            <a:endParaRPr b="1" sz="13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Shows </a:t>
            </a:r>
            <a:r>
              <a:rPr b="1" lang="en" sz="1100">
                <a:solidFill>
                  <a:schemeClr val="dk1"/>
                </a:solidFill>
              </a:rPr>
              <a:t>data dependencies</a:t>
            </a:r>
            <a:r>
              <a:rPr lang="en" sz="1100">
                <a:solidFill>
                  <a:schemeClr val="dk1"/>
                </a:solidFill>
              </a:rPr>
              <a:t> (one variable affecting another).</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Built from RDA and def-use chains.</a:t>
            </a:r>
            <a:endParaRPr sz="1100">
              <a:solidFill>
                <a:schemeClr val="dk1"/>
              </a:solidFill>
            </a:endParaRPr>
          </a:p>
          <a:p>
            <a:pPr indent="0" lvl="0" marL="0" rtl="0" algn="l">
              <a:spcBef>
                <a:spcPts val="1400"/>
              </a:spcBef>
              <a:spcAft>
                <a:spcPts val="0"/>
              </a:spcAft>
              <a:buNone/>
            </a:pPr>
            <a:r>
              <a:rPr b="1" lang="en" sz="1300">
                <a:solidFill>
                  <a:schemeClr val="dk1"/>
                </a:solidFill>
              </a:rPr>
              <a:t>PDG (Program Dependence Graph)</a:t>
            </a:r>
            <a:endParaRPr b="1" sz="13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Combines </a:t>
            </a:r>
            <a:r>
              <a:rPr b="1" lang="en" sz="1100">
                <a:solidFill>
                  <a:schemeClr val="dk1"/>
                </a:solidFill>
              </a:rPr>
              <a:t>CDG + DDG</a:t>
            </a:r>
            <a:r>
              <a:rPr lang="en" sz="1100">
                <a:solidFill>
                  <a:schemeClr val="dk1"/>
                </a:solidFill>
              </a:rPr>
              <a:t> into one unified graph.</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Represents complete </a:t>
            </a:r>
            <a:r>
              <a:rPr b="1" lang="en" sz="1100">
                <a:solidFill>
                  <a:schemeClr val="dk1"/>
                </a:solidFill>
              </a:rPr>
              <a:t>control + data dependencies</a:t>
            </a:r>
            <a:r>
              <a:rPr lang="en" sz="1100">
                <a:solidFill>
                  <a:schemeClr val="dk1"/>
                </a:solidFill>
              </a:rPr>
              <a:t> of a program.</a:t>
            </a:r>
            <a:endParaRPr sz="1100">
              <a:solidFill>
                <a:schemeClr val="dk1"/>
              </a:solidFill>
            </a:endParaRPr>
          </a:p>
          <a:p>
            <a:pPr indent="0" lvl="0" marL="0" rtl="0" algn="l">
              <a:spcBef>
                <a:spcPts val="1400"/>
              </a:spcBef>
              <a:spcAft>
                <a:spcPts val="0"/>
              </a:spcAft>
              <a:buNone/>
            </a:pPr>
            <a:r>
              <a:rPr b="1" lang="en" sz="1300">
                <a:solidFill>
                  <a:schemeClr val="dk1"/>
                </a:solidFill>
              </a:rPr>
              <a:t>BRs (Business Rules)</a:t>
            </a:r>
            <a:endParaRPr b="1" sz="13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Extracted logical conditions and actions describing </a:t>
            </a:r>
            <a:r>
              <a:rPr b="1" lang="en" sz="1100">
                <a:solidFill>
                  <a:schemeClr val="dk1"/>
                </a:solidFill>
              </a:rPr>
              <a:t>business behavior</a:t>
            </a:r>
            <a:r>
              <a:rPr lang="en" sz="1100">
                <a:solidFill>
                  <a:schemeClr val="dk1"/>
                </a:solidFill>
              </a:rPr>
              <a:t> encoded in COBOL.</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Generated by A-COBREX from RBB → BRR merging.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162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Implementation - Running Example</a:t>
            </a:r>
            <a:endParaRPr/>
          </a:p>
        </p:txBody>
      </p:sp>
      <p:pic>
        <p:nvPicPr>
          <p:cNvPr id="159" name="Google Shape;159;p27"/>
          <p:cNvPicPr preferRelativeResize="0"/>
          <p:nvPr/>
        </p:nvPicPr>
        <p:blipFill>
          <a:blip r:embed="rId3">
            <a:alphaModFix/>
          </a:blip>
          <a:stretch>
            <a:fillRect/>
          </a:stretch>
        </p:blipFill>
        <p:spPr>
          <a:xfrm>
            <a:off x="2794950" y="734925"/>
            <a:ext cx="3278474" cy="3927176"/>
          </a:xfrm>
          <a:prstGeom prst="rect">
            <a:avLst/>
          </a:prstGeom>
          <a:noFill/>
          <a:ln>
            <a:noFill/>
          </a:ln>
        </p:spPr>
      </p:pic>
      <p:sp>
        <p:nvSpPr>
          <p:cNvPr id="160" name="Google Shape;160;p27"/>
          <p:cNvSpPr txBox="1"/>
          <p:nvPr/>
        </p:nvSpPr>
        <p:spPr>
          <a:xfrm>
            <a:off x="2794950" y="4662100"/>
            <a:ext cx="3580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Fig - 8. Sample Source Code File</a:t>
            </a:r>
            <a:endParaRPr sz="16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ctr">
              <a:spcBef>
                <a:spcPts val="0"/>
              </a:spcBef>
              <a:spcAft>
                <a:spcPts val="0"/>
              </a:spcAft>
              <a:buSzPct val="100000"/>
              <a:buAutoNum type="arabicPeriod"/>
            </a:pPr>
            <a:r>
              <a:rPr lang="en"/>
              <a:t>Generation of Abstract Syntax Tree (AST)</a:t>
            </a:r>
            <a:endParaRPr/>
          </a:p>
        </p:txBody>
      </p:sp>
      <p:sp>
        <p:nvSpPr>
          <p:cNvPr id="166" name="Google Shape;166;p28"/>
          <p:cNvSpPr txBox="1"/>
          <p:nvPr/>
        </p:nvSpPr>
        <p:spPr>
          <a:xfrm>
            <a:off x="42600" y="4388750"/>
            <a:ext cx="9144000" cy="37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rPr>
              <a:t>Fig- 9. </a:t>
            </a:r>
            <a:r>
              <a:rPr lang="en" sz="1500">
                <a:solidFill>
                  <a:schemeClr val="dk1"/>
                </a:solidFill>
              </a:rPr>
              <a:t>A slice of AST of the Sample source code file</a:t>
            </a:r>
            <a:endParaRPr sz="1500">
              <a:solidFill>
                <a:schemeClr val="dk2"/>
              </a:solidFill>
            </a:endParaRPr>
          </a:p>
        </p:txBody>
      </p:sp>
      <p:pic>
        <p:nvPicPr>
          <p:cNvPr id="167" name="Google Shape;167;p28"/>
          <p:cNvPicPr preferRelativeResize="0"/>
          <p:nvPr/>
        </p:nvPicPr>
        <p:blipFill>
          <a:blip r:embed="rId3">
            <a:alphaModFix/>
          </a:blip>
          <a:stretch>
            <a:fillRect/>
          </a:stretch>
        </p:blipFill>
        <p:spPr>
          <a:xfrm>
            <a:off x="195350" y="1017725"/>
            <a:ext cx="8780227" cy="33710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311700" y="1038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2. Generation of Control Flow Graph (CFG)</a:t>
            </a:r>
            <a:endParaRPr/>
          </a:p>
        </p:txBody>
      </p:sp>
      <p:pic>
        <p:nvPicPr>
          <p:cNvPr id="173" name="Google Shape;173;p29"/>
          <p:cNvPicPr preferRelativeResize="0"/>
          <p:nvPr/>
        </p:nvPicPr>
        <p:blipFill>
          <a:blip r:embed="rId3">
            <a:alphaModFix/>
          </a:blip>
          <a:stretch>
            <a:fillRect/>
          </a:stretch>
        </p:blipFill>
        <p:spPr>
          <a:xfrm>
            <a:off x="259875" y="1090450"/>
            <a:ext cx="4677549" cy="2962599"/>
          </a:xfrm>
          <a:prstGeom prst="rect">
            <a:avLst/>
          </a:prstGeom>
          <a:noFill/>
          <a:ln>
            <a:noFill/>
          </a:ln>
        </p:spPr>
      </p:pic>
      <p:pic>
        <p:nvPicPr>
          <p:cNvPr id="174" name="Google Shape;174;p29"/>
          <p:cNvPicPr preferRelativeResize="0"/>
          <p:nvPr/>
        </p:nvPicPr>
        <p:blipFill>
          <a:blip r:embed="rId4">
            <a:alphaModFix/>
          </a:blip>
          <a:stretch>
            <a:fillRect/>
          </a:stretch>
        </p:blipFill>
        <p:spPr>
          <a:xfrm>
            <a:off x="4937424" y="789575"/>
            <a:ext cx="3901777" cy="1782180"/>
          </a:xfrm>
          <a:prstGeom prst="rect">
            <a:avLst/>
          </a:prstGeom>
          <a:noFill/>
          <a:ln>
            <a:noFill/>
          </a:ln>
        </p:spPr>
      </p:pic>
      <p:pic>
        <p:nvPicPr>
          <p:cNvPr id="175" name="Google Shape;175;p29"/>
          <p:cNvPicPr preferRelativeResize="0"/>
          <p:nvPr/>
        </p:nvPicPr>
        <p:blipFill>
          <a:blip r:embed="rId5">
            <a:alphaModFix/>
          </a:blip>
          <a:stretch>
            <a:fillRect/>
          </a:stretch>
        </p:blipFill>
        <p:spPr>
          <a:xfrm>
            <a:off x="4937424" y="2983280"/>
            <a:ext cx="3901775" cy="1793095"/>
          </a:xfrm>
          <a:prstGeom prst="rect">
            <a:avLst/>
          </a:prstGeom>
          <a:noFill/>
          <a:ln>
            <a:noFill/>
          </a:ln>
        </p:spPr>
      </p:pic>
      <p:sp>
        <p:nvSpPr>
          <p:cNvPr id="176" name="Google Shape;176;p29"/>
          <p:cNvSpPr txBox="1"/>
          <p:nvPr/>
        </p:nvSpPr>
        <p:spPr>
          <a:xfrm>
            <a:off x="670100" y="4129875"/>
            <a:ext cx="39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Fig- 10.1. First slice of CFG of the Sample source code file</a:t>
            </a:r>
            <a:endParaRPr sz="1500">
              <a:solidFill>
                <a:schemeClr val="dk2"/>
              </a:solidFill>
            </a:endParaRPr>
          </a:p>
        </p:txBody>
      </p:sp>
      <p:sp>
        <p:nvSpPr>
          <p:cNvPr id="177" name="Google Shape;177;p29"/>
          <p:cNvSpPr txBox="1"/>
          <p:nvPr/>
        </p:nvSpPr>
        <p:spPr>
          <a:xfrm>
            <a:off x="5311025" y="2571750"/>
            <a:ext cx="34362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Fig- 10.2. Intermediate slice of CFG </a:t>
            </a:r>
            <a:endParaRPr sz="1500">
              <a:solidFill>
                <a:schemeClr val="dk2"/>
              </a:solidFill>
            </a:endParaRPr>
          </a:p>
        </p:txBody>
      </p:sp>
      <p:sp>
        <p:nvSpPr>
          <p:cNvPr id="178" name="Google Shape;178;p29"/>
          <p:cNvSpPr txBox="1"/>
          <p:nvPr/>
        </p:nvSpPr>
        <p:spPr>
          <a:xfrm>
            <a:off x="5529125" y="4674000"/>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Fig- 10.3. Final slice of CFG </a:t>
            </a:r>
            <a:endParaRPr sz="15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3. Generation of Rule Building Block Graph (RBB)</a:t>
            </a:r>
            <a:endParaRPr/>
          </a:p>
        </p:txBody>
      </p:sp>
      <p:pic>
        <p:nvPicPr>
          <p:cNvPr id="184" name="Google Shape;184;p30"/>
          <p:cNvPicPr preferRelativeResize="0"/>
          <p:nvPr/>
        </p:nvPicPr>
        <p:blipFill>
          <a:blip r:embed="rId3">
            <a:alphaModFix/>
          </a:blip>
          <a:stretch>
            <a:fillRect/>
          </a:stretch>
        </p:blipFill>
        <p:spPr>
          <a:xfrm>
            <a:off x="4572000" y="1017725"/>
            <a:ext cx="4571999" cy="3710274"/>
          </a:xfrm>
          <a:prstGeom prst="rect">
            <a:avLst/>
          </a:prstGeom>
          <a:noFill/>
          <a:ln>
            <a:noFill/>
          </a:ln>
        </p:spPr>
      </p:pic>
      <p:pic>
        <p:nvPicPr>
          <p:cNvPr id="185" name="Google Shape;185;p30"/>
          <p:cNvPicPr preferRelativeResize="0"/>
          <p:nvPr/>
        </p:nvPicPr>
        <p:blipFill>
          <a:blip r:embed="rId4">
            <a:alphaModFix/>
          </a:blip>
          <a:stretch>
            <a:fillRect/>
          </a:stretch>
        </p:blipFill>
        <p:spPr>
          <a:xfrm>
            <a:off x="0" y="1017725"/>
            <a:ext cx="4571999" cy="3710276"/>
          </a:xfrm>
          <a:prstGeom prst="rect">
            <a:avLst/>
          </a:prstGeom>
          <a:noFill/>
          <a:ln>
            <a:noFill/>
          </a:ln>
        </p:spPr>
      </p:pic>
      <p:sp>
        <p:nvSpPr>
          <p:cNvPr id="186" name="Google Shape;186;p30"/>
          <p:cNvSpPr txBox="1"/>
          <p:nvPr/>
        </p:nvSpPr>
        <p:spPr>
          <a:xfrm>
            <a:off x="906900" y="4728000"/>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Fig- 11.1. First slice of RBB </a:t>
            </a:r>
            <a:endParaRPr sz="1500">
              <a:solidFill>
                <a:schemeClr val="dk2"/>
              </a:solidFill>
            </a:endParaRPr>
          </a:p>
        </p:txBody>
      </p:sp>
      <p:sp>
        <p:nvSpPr>
          <p:cNvPr id="187" name="Google Shape;187;p30"/>
          <p:cNvSpPr txBox="1"/>
          <p:nvPr/>
        </p:nvSpPr>
        <p:spPr>
          <a:xfrm>
            <a:off x="5438425" y="4728000"/>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Fig- 11.2. Last slice of RBB </a:t>
            </a:r>
            <a:endParaRPr sz="15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4. Generation of Data Flow Graph (DFG)</a:t>
            </a:r>
            <a:endParaRPr/>
          </a:p>
        </p:txBody>
      </p:sp>
      <p:pic>
        <p:nvPicPr>
          <p:cNvPr id="193" name="Google Shape;193;p31"/>
          <p:cNvPicPr preferRelativeResize="0"/>
          <p:nvPr/>
        </p:nvPicPr>
        <p:blipFill>
          <a:blip r:embed="rId3">
            <a:alphaModFix/>
          </a:blip>
          <a:stretch>
            <a:fillRect/>
          </a:stretch>
        </p:blipFill>
        <p:spPr>
          <a:xfrm>
            <a:off x="1987463" y="1170125"/>
            <a:ext cx="5085025" cy="1523550"/>
          </a:xfrm>
          <a:prstGeom prst="rect">
            <a:avLst/>
          </a:prstGeom>
          <a:noFill/>
          <a:ln>
            <a:noFill/>
          </a:ln>
        </p:spPr>
      </p:pic>
      <p:pic>
        <p:nvPicPr>
          <p:cNvPr id="194" name="Google Shape;194;p31"/>
          <p:cNvPicPr preferRelativeResize="0"/>
          <p:nvPr/>
        </p:nvPicPr>
        <p:blipFill>
          <a:blip r:embed="rId4">
            <a:alphaModFix/>
          </a:blip>
          <a:stretch>
            <a:fillRect/>
          </a:stretch>
        </p:blipFill>
        <p:spPr>
          <a:xfrm>
            <a:off x="68350" y="2846075"/>
            <a:ext cx="8923249" cy="1883850"/>
          </a:xfrm>
          <a:prstGeom prst="rect">
            <a:avLst/>
          </a:prstGeom>
          <a:noFill/>
          <a:ln>
            <a:noFill/>
          </a:ln>
        </p:spPr>
      </p:pic>
      <p:sp>
        <p:nvSpPr>
          <p:cNvPr id="195" name="Google Shape;195;p31"/>
          <p:cNvSpPr txBox="1"/>
          <p:nvPr/>
        </p:nvSpPr>
        <p:spPr>
          <a:xfrm>
            <a:off x="2940975" y="243057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Fig- 12.1. A slice of DFG</a:t>
            </a:r>
            <a:endParaRPr sz="1500">
              <a:solidFill>
                <a:schemeClr val="dk2"/>
              </a:solidFill>
            </a:endParaRPr>
          </a:p>
        </p:txBody>
      </p:sp>
      <p:sp>
        <p:nvSpPr>
          <p:cNvPr id="196" name="Google Shape;196;p31"/>
          <p:cNvSpPr txBox="1"/>
          <p:nvPr/>
        </p:nvSpPr>
        <p:spPr>
          <a:xfrm>
            <a:off x="3029975" y="4635150"/>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Fig- 12.2. Next  slice of DFG</a:t>
            </a:r>
            <a:endParaRPr sz="15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5. Generation of Program Dependency Graph (PDG)</a:t>
            </a:r>
            <a:endParaRPr/>
          </a:p>
        </p:txBody>
      </p:sp>
      <p:pic>
        <p:nvPicPr>
          <p:cNvPr id="202" name="Google Shape;202;p32"/>
          <p:cNvPicPr preferRelativeResize="0"/>
          <p:nvPr/>
        </p:nvPicPr>
        <p:blipFill>
          <a:blip r:embed="rId3">
            <a:alphaModFix/>
          </a:blip>
          <a:stretch>
            <a:fillRect/>
          </a:stretch>
        </p:blipFill>
        <p:spPr>
          <a:xfrm>
            <a:off x="907675" y="1017725"/>
            <a:ext cx="2426229" cy="3820975"/>
          </a:xfrm>
          <a:prstGeom prst="rect">
            <a:avLst/>
          </a:prstGeom>
          <a:noFill/>
          <a:ln>
            <a:noFill/>
          </a:ln>
        </p:spPr>
      </p:pic>
      <p:pic>
        <p:nvPicPr>
          <p:cNvPr id="203" name="Google Shape;203;p32"/>
          <p:cNvPicPr preferRelativeResize="0"/>
          <p:nvPr/>
        </p:nvPicPr>
        <p:blipFill>
          <a:blip r:embed="rId4">
            <a:alphaModFix/>
          </a:blip>
          <a:stretch>
            <a:fillRect/>
          </a:stretch>
        </p:blipFill>
        <p:spPr>
          <a:xfrm>
            <a:off x="3553329" y="1017725"/>
            <a:ext cx="5278979" cy="3820976"/>
          </a:xfrm>
          <a:prstGeom prst="rect">
            <a:avLst/>
          </a:prstGeom>
          <a:noFill/>
          <a:ln>
            <a:noFill/>
          </a:ln>
        </p:spPr>
      </p:pic>
      <p:sp>
        <p:nvSpPr>
          <p:cNvPr id="204" name="Google Shape;204;p32"/>
          <p:cNvSpPr txBox="1"/>
          <p:nvPr/>
        </p:nvSpPr>
        <p:spPr>
          <a:xfrm>
            <a:off x="311700" y="4728000"/>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Fig- 13.1. A slice of PDG</a:t>
            </a:r>
            <a:endParaRPr sz="1500">
              <a:solidFill>
                <a:schemeClr val="dk2"/>
              </a:solidFill>
            </a:endParaRPr>
          </a:p>
        </p:txBody>
      </p:sp>
      <p:sp>
        <p:nvSpPr>
          <p:cNvPr id="205" name="Google Shape;205;p32"/>
          <p:cNvSpPr txBox="1"/>
          <p:nvPr/>
        </p:nvSpPr>
        <p:spPr>
          <a:xfrm>
            <a:off x="4692813" y="460922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Fig- 13.2. Next slice of PDG</a:t>
            </a:r>
            <a:endParaRPr sz="15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6. Extraction of Business Rules</a:t>
            </a:r>
            <a:endParaRPr/>
          </a:p>
        </p:txBody>
      </p:sp>
      <p:sp>
        <p:nvSpPr>
          <p:cNvPr id="211" name="Google Shape;211;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a:p>
          <a:p>
            <a:pPr indent="0" lvl="0" marL="0" rtl="0" algn="l">
              <a:spcBef>
                <a:spcPts val="0"/>
              </a:spcBef>
              <a:spcAft>
                <a:spcPts val="1200"/>
              </a:spcAft>
              <a:buNone/>
            </a:pPr>
            <a:r>
              <a:t/>
            </a:r>
            <a:endParaRPr/>
          </a:p>
        </p:txBody>
      </p:sp>
      <p:pic>
        <p:nvPicPr>
          <p:cNvPr id="212" name="Google Shape;212;p33"/>
          <p:cNvPicPr preferRelativeResize="0"/>
          <p:nvPr/>
        </p:nvPicPr>
        <p:blipFill>
          <a:blip r:embed="rId3">
            <a:alphaModFix/>
          </a:blip>
          <a:stretch>
            <a:fillRect/>
          </a:stretch>
        </p:blipFill>
        <p:spPr>
          <a:xfrm>
            <a:off x="493075" y="1984125"/>
            <a:ext cx="3565649" cy="2257125"/>
          </a:xfrm>
          <a:prstGeom prst="rect">
            <a:avLst/>
          </a:prstGeom>
          <a:noFill/>
          <a:ln>
            <a:noFill/>
          </a:ln>
        </p:spPr>
      </p:pic>
      <p:pic>
        <p:nvPicPr>
          <p:cNvPr id="213" name="Google Shape;213;p33"/>
          <p:cNvPicPr preferRelativeResize="0"/>
          <p:nvPr/>
        </p:nvPicPr>
        <p:blipFill>
          <a:blip r:embed="rId4">
            <a:alphaModFix/>
          </a:blip>
          <a:stretch>
            <a:fillRect/>
          </a:stretch>
        </p:blipFill>
        <p:spPr>
          <a:xfrm>
            <a:off x="4250950" y="1656500"/>
            <a:ext cx="4581351" cy="2912376"/>
          </a:xfrm>
          <a:prstGeom prst="rect">
            <a:avLst/>
          </a:prstGeom>
          <a:noFill/>
          <a:ln>
            <a:noFill/>
          </a:ln>
        </p:spPr>
      </p:pic>
      <p:sp>
        <p:nvSpPr>
          <p:cNvPr id="214" name="Google Shape;214;p33"/>
          <p:cNvSpPr txBox="1"/>
          <p:nvPr/>
        </p:nvSpPr>
        <p:spPr>
          <a:xfrm>
            <a:off x="2802000" y="1859775"/>
            <a:ext cx="12900" cy="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15" name="Google Shape;215;p33"/>
          <p:cNvSpPr txBox="1"/>
          <p:nvPr/>
        </p:nvSpPr>
        <p:spPr>
          <a:xfrm>
            <a:off x="311700" y="456887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Fig- 14.1. Rule-1</a:t>
            </a:r>
            <a:endParaRPr sz="1500">
              <a:solidFill>
                <a:schemeClr val="dk2"/>
              </a:solidFill>
            </a:endParaRPr>
          </a:p>
        </p:txBody>
      </p:sp>
      <p:sp>
        <p:nvSpPr>
          <p:cNvPr id="216" name="Google Shape;216;p33"/>
          <p:cNvSpPr txBox="1"/>
          <p:nvPr/>
        </p:nvSpPr>
        <p:spPr>
          <a:xfrm>
            <a:off x="4687725" y="456887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Fig- 14.2. Rule-2</a:t>
            </a:r>
            <a:endParaRPr sz="15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7. </a:t>
            </a:r>
            <a:r>
              <a:rPr lang="en"/>
              <a:t>Mocktail of Multi-Style Code Representations</a:t>
            </a:r>
            <a:endParaRPr/>
          </a:p>
        </p:txBody>
      </p:sp>
      <p:pic>
        <p:nvPicPr>
          <p:cNvPr id="222" name="Google Shape;222;p34" title="mocktail.png"/>
          <p:cNvPicPr preferRelativeResize="0"/>
          <p:nvPr/>
        </p:nvPicPr>
        <p:blipFill rotWithShape="1">
          <a:blip r:embed="rId3">
            <a:alphaModFix/>
          </a:blip>
          <a:srcRect b="28295" l="20881" r="20921" t="31540"/>
          <a:stretch/>
        </p:blipFill>
        <p:spPr>
          <a:xfrm>
            <a:off x="2553525" y="1246425"/>
            <a:ext cx="6278774" cy="3400599"/>
          </a:xfrm>
          <a:prstGeom prst="rect">
            <a:avLst/>
          </a:prstGeom>
          <a:noFill/>
          <a:ln>
            <a:noFill/>
          </a:ln>
        </p:spPr>
      </p:pic>
      <p:sp>
        <p:nvSpPr>
          <p:cNvPr id="223" name="Google Shape;223;p34"/>
          <p:cNvSpPr txBox="1"/>
          <p:nvPr/>
        </p:nvSpPr>
        <p:spPr>
          <a:xfrm>
            <a:off x="0" y="1786300"/>
            <a:ext cx="2709000" cy="179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solidFill>
                  <a:schemeClr val="dk1"/>
                </a:solidFill>
              </a:rPr>
              <a:t>Code Agent:</a:t>
            </a:r>
            <a:r>
              <a:rPr lang="en" sz="1200">
                <a:solidFill>
                  <a:schemeClr val="dk1"/>
                </a:solidFill>
              </a:rPr>
              <a:t> CodeLlama summarizes each BR slice independently using multi-view mocktails.</a:t>
            </a:r>
            <a:endParaRPr sz="1200">
              <a:solidFill>
                <a:schemeClr val="dk1"/>
              </a:solidFill>
            </a:endParaRPr>
          </a:p>
          <a:p>
            <a:pPr indent="0" lvl="0" marL="0" rtl="0" algn="l">
              <a:lnSpc>
                <a:spcPct val="115000"/>
              </a:lnSpc>
              <a:spcBef>
                <a:spcPts val="1200"/>
              </a:spcBef>
              <a:spcAft>
                <a:spcPts val="1200"/>
              </a:spcAft>
              <a:buNone/>
            </a:pPr>
            <a:r>
              <a:rPr b="1" lang="en" sz="1200">
                <a:solidFill>
                  <a:schemeClr val="dk1"/>
                </a:solidFill>
              </a:rPr>
              <a:t>Text Agent:</a:t>
            </a:r>
            <a:r>
              <a:rPr lang="en" sz="1200">
                <a:solidFill>
                  <a:schemeClr val="dk1"/>
                </a:solidFill>
              </a:rPr>
              <a:t> Llama 3.1 merges BR summaries into a coherent full-program explanation.</a:t>
            </a:r>
            <a:endParaRPr sz="1500"/>
          </a:p>
        </p:txBody>
      </p:sp>
      <p:sp>
        <p:nvSpPr>
          <p:cNvPr id="224" name="Google Shape;224;p34"/>
          <p:cNvSpPr txBox="1"/>
          <p:nvPr/>
        </p:nvSpPr>
        <p:spPr>
          <a:xfrm>
            <a:off x="4354263" y="464702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Fig- 15. Mocktail</a:t>
            </a:r>
            <a:endParaRPr sz="15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8. Comparison</a:t>
            </a:r>
            <a:endParaRPr/>
          </a:p>
        </p:txBody>
      </p:sp>
      <p:sp>
        <p:nvSpPr>
          <p:cNvPr id="230" name="Google Shape;230;p35"/>
          <p:cNvSpPr txBox="1"/>
          <p:nvPr>
            <p:ph idx="1" type="body"/>
          </p:nvPr>
        </p:nvSpPr>
        <p:spPr>
          <a:xfrm>
            <a:off x="972450" y="1152475"/>
            <a:ext cx="3138000" cy="3416400"/>
          </a:xfrm>
          <a:prstGeom prst="rect">
            <a:avLst/>
          </a:prstGeom>
        </p:spPr>
        <p:txBody>
          <a:bodyPr anchorCtr="0" anchor="t" bIns="91425" lIns="91425" spcFirstLastPara="1" rIns="91425" wrap="square" tIns="91425">
            <a:normAutofit fontScale="40000" lnSpcReduction="10000"/>
          </a:bodyPr>
          <a:lstStyle/>
          <a:p>
            <a:pPr indent="0" lvl="0" marL="0" rtl="0" algn="l">
              <a:spcBef>
                <a:spcPts val="0"/>
              </a:spcBef>
              <a:spcAft>
                <a:spcPts val="0"/>
              </a:spcAft>
              <a:buNone/>
            </a:pPr>
            <a:r>
              <a:rPr lang="en"/>
              <a:t>The COBOL program "ATM" is designed to facilitate ATM transactions for users. The program consists of two main rule units that handle different aspects of the ATM system. The first rule unit focuses on the process of entering a PIN number to access ATM services. It ensures that the user enters a valid PIN (1234) before proceeding to the main menu for transactions. This rule unit manages the loop for entering the PIN, displays messages for invalid entries, and updates the VALID flag accordingly. Once a valid PIN is entered, the user gains access to the ATM services without being locked out for multiple incorrect attempts.</a:t>
            </a:r>
            <a:endParaRPr/>
          </a:p>
          <a:p>
            <a:pPr indent="0" lvl="0" marL="0" rtl="0" algn="l">
              <a:spcBef>
                <a:spcPts val="1200"/>
              </a:spcBef>
              <a:spcAft>
                <a:spcPts val="0"/>
              </a:spcAft>
              <a:buNone/>
            </a:pPr>
            <a:r>
              <a:rPr lang="en"/>
              <a:t>The second rule unit in the program deals with calculating the denominations of currency required to fulfill a cash withdrawal or deposit transaction. This unit initializes the currency notes, divides the input amount by these denominations to determine the required count of each denomination, and displays this information to the user. It updates the account balance, keeps track of the remaining amount after dispensing denominations, and notifies the user of the new balance post-transaction. The code also sets up the denominations and updates the necessary variables for the transaction to be completed successfully.</a:t>
            </a:r>
            <a:endParaRPr/>
          </a:p>
          <a:p>
            <a:pPr indent="0" lvl="0" marL="0" rtl="0" algn="l">
              <a:spcBef>
                <a:spcPts val="1200"/>
              </a:spcBef>
              <a:spcAft>
                <a:spcPts val="1200"/>
              </a:spcAft>
              <a:buNone/>
            </a:pPr>
            <a:r>
              <a:rPr lang="en"/>
              <a:t>Overall, the program ensures a secure and efficient ATM experience for users by verifying PIN entries and managing currency transactions accurately. It maintains consistency between the business rules and the COBOL code, emphasizing the importance of validating PINs and handling currency denominations effectively. The interaction between these rule units controls the flow of the ATM system, guiding users through the necessary steps for safe and reliable transactions.</a:t>
            </a:r>
            <a:endParaRPr/>
          </a:p>
        </p:txBody>
      </p:sp>
      <p:sp>
        <p:nvSpPr>
          <p:cNvPr id="231" name="Google Shape;231;p35"/>
          <p:cNvSpPr txBox="1"/>
          <p:nvPr>
            <p:ph idx="1" type="body"/>
          </p:nvPr>
        </p:nvSpPr>
        <p:spPr>
          <a:xfrm>
            <a:off x="5137200" y="1152475"/>
            <a:ext cx="3138000" cy="34164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Clr>
                <a:schemeClr val="dk1"/>
              </a:buClr>
              <a:buSzPct val="61111"/>
              <a:buFont typeface="Arial"/>
              <a:buNone/>
            </a:pPr>
            <a:r>
              <a:rPr lang="en"/>
              <a:t>This COBOL program simulates a simple ATM for a single account. It starts by welcoming the user and repeatedly asking for a PIN until the correct value (`1234`) is entered, using a flag (`VALID`) to track whether access is granted. If the PIN is wrong, it shows “INVALID PIN NUMBER” and forces another attempt. After successful login, the program displays a menu in a loop, allowing the user to check balance, withdraw cash, deposit cash, or exit.</a:t>
            </a:r>
            <a:endParaRPr/>
          </a:p>
          <a:p>
            <a:pPr indent="0" lvl="0" marL="0" rtl="0" algn="l">
              <a:spcBef>
                <a:spcPts val="1200"/>
              </a:spcBef>
              <a:spcAft>
                <a:spcPts val="1200"/>
              </a:spcAft>
              <a:buNone/>
            </a:pPr>
            <a:r>
              <a:rPr lang="en"/>
              <a:t>For balance, it simply prints the current balance. For deposits, it reads an amount, adds it to the balance, and shows the updated balance. For withdrawals, it first checks if the requested amount exceeds the balance; if so, it prints “INSUFFICIENT FUNDS”. Otherwise, it subtracts the amount, splits it into standard note denominations (500, 200, 100, 50, 10) using loops, displays how many notes of each type are used, and then shows the new balance.</a:t>
            </a:r>
            <a:endParaRPr/>
          </a:p>
        </p:txBody>
      </p:sp>
      <p:sp>
        <p:nvSpPr>
          <p:cNvPr id="232" name="Google Shape;232;p35"/>
          <p:cNvSpPr txBox="1"/>
          <p:nvPr/>
        </p:nvSpPr>
        <p:spPr>
          <a:xfrm>
            <a:off x="1065925" y="4580500"/>
            <a:ext cx="3044400" cy="3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Generated File Summary </a:t>
            </a:r>
            <a:endParaRPr sz="1800">
              <a:solidFill>
                <a:schemeClr val="dk2"/>
              </a:solidFill>
            </a:endParaRPr>
          </a:p>
        </p:txBody>
      </p:sp>
      <p:sp>
        <p:nvSpPr>
          <p:cNvPr id="233" name="Google Shape;233;p35"/>
          <p:cNvSpPr txBox="1"/>
          <p:nvPr/>
        </p:nvSpPr>
        <p:spPr>
          <a:xfrm>
            <a:off x="5184000" y="4580500"/>
            <a:ext cx="3044400" cy="3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Reference File </a:t>
            </a:r>
            <a:r>
              <a:rPr lang="en" sz="1800">
                <a:solidFill>
                  <a:schemeClr val="dk2"/>
                </a:solidFill>
              </a:rPr>
              <a:t>Summary </a:t>
            </a:r>
            <a:endParaRPr sz="18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9. Evaluation </a:t>
            </a:r>
            <a:endParaRPr/>
          </a:p>
        </p:txBody>
      </p:sp>
      <p:pic>
        <p:nvPicPr>
          <p:cNvPr id="239" name="Google Shape;239;p36"/>
          <p:cNvPicPr preferRelativeResize="0"/>
          <p:nvPr/>
        </p:nvPicPr>
        <p:blipFill rotWithShape="1">
          <a:blip r:embed="rId3">
            <a:alphaModFix/>
          </a:blip>
          <a:srcRect b="0" l="0" r="0" t="24913"/>
          <a:stretch/>
        </p:blipFill>
        <p:spPr>
          <a:xfrm>
            <a:off x="152400" y="1212712"/>
            <a:ext cx="8839201" cy="1463638"/>
          </a:xfrm>
          <a:prstGeom prst="rect">
            <a:avLst/>
          </a:prstGeom>
          <a:noFill/>
          <a:ln>
            <a:noFill/>
          </a:ln>
        </p:spPr>
      </p:pic>
      <p:sp>
        <p:nvSpPr>
          <p:cNvPr id="240" name="Google Shape;240;p36"/>
          <p:cNvSpPr txBox="1"/>
          <p:nvPr/>
        </p:nvSpPr>
        <p:spPr>
          <a:xfrm>
            <a:off x="570300" y="3109675"/>
            <a:ext cx="8003400" cy="1539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b="1" lang="en" sz="1200">
                <a:solidFill>
                  <a:schemeClr val="dk1"/>
                </a:solidFill>
              </a:rPr>
              <a:t>Purpose </a:t>
            </a:r>
            <a:r>
              <a:rPr lang="en" sz="1200">
                <a:solidFill>
                  <a:schemeClr val="dk1"/>
                </a:solidFill>
              </a:rPr>
              <a:t>-</a:t>
            </a:r>
            <a:r>
              <a:rPr b="1" lang="en" sz="1200">
                <a:solidFill>
                  <a:schemeClr val="dk1"/>
                </a:solidFill>
              </a:rPr>
              <a:t> </a:t>
            </a:r>
            <a:r>
              <a:rPr lang="en" sz="1200">
                <a:solidFill>
                  <a:schemeClr val="dk1"/>
                </a:solidFill>
              </a:rPr>
              <a:t>Measures how well the summary captures the main intent of the COBOL program or business rule.</a:t>
            </a:r>
            <a:endParaRPr sz="1200">
              <a:solidFill>
                <a:schemeClr val="dk1"/>
              </a:solidFill>
            </a:endParaRPr>
          </a:p>
          <a:p>
            <a:pPr indent="0" lvl="0" marL="0" rtl="0" algn="l">
              <a:lnSpc>
                <a:spcPct val="100000"/>
              </a:lnSpc>
              <a:spcBef>
                <a:spcPts val="1200"/>
              </a:spcBef>
              <a:spcAft>
                <a:spcPts val="0"/>
              </a:spcAft>
              <a:buNone/>
            </a:pPr>
            <a:r>
              <a:rPr b="1" lang="en" sz="1200">
                <a:solidFill>
                  <a:schemeClr val="dk1"/>
                </a:solidFill>
              </a:rPr>
              <a:t>Functionality </a:t>
            </a:r>
            <a:r>
              <a:rPr lang="en" sz="1200">
                <a:solidFill>
                  <a:schemeClr val="dk1"/>
                </a:solidFill>
              </a:rPr>
              <a:t>-</a:t>
            </a:r>
            <a:r>
              <a:rPr b="1" lang="en" sz="1200">
                <a:solidFill>
                  <a:schemeClr val="dk1"/>
                </a:solidFill>
              </a:rPr>
              <a:t> </a:t>
            </a:r>
            <a:r>
              <a:rPr lang="en" sz="1200">
                <a:solidFill>
                  <a:schemeClr val="dk1"/>
                </a:solidFill>
              </a:rPr>
              <a:t>Evaluates how accurately the summary describes the program’s logical behavior and operations.</a:t>
            </a:r>
            <a:endParaRPr sz="1200">
              <a:solidFill>
                <a:schemeClr val="dk1"/>
              </a:solidFill>
            </a:endParaRPr>
          </a:p>
          <a:p>
            <a:pPr indent="0" lvl="0" marL="0" rtl="0" algn="l">
              <a:lnSpc>
                <a:spcPct val="100000"/>
              </a:lnSpc>
              <a:spcBef>
                <a:spcPts val="1200"/>
              </a:spcBef>
              <a:spcAft>
                <a:spcPts val="0"/>
              </a:spcAft>
              <a:buNone/>
            </a:pPr>
            <a:r>
              <a:rPr b="1" lang="en" sz="1200">
                <a:solidFill>
                  <a:schemeClr val="dk1"/>
                </a:solidFill>
              </a:rPr>
              <a:t>Completeness - </a:t>
            </a:r>
            <a:r>
              <a:rPr lang="en" sz="1200">
                <a:solidFill>
                  <a:schemeClr val="dk1"/>
                </a:solidFill>
              </a:rPr>
              <a:t>Checks whether the summary covers all important conditions, rules, and key program actions.</a:t>
            </a:r>
            <a:endParaRPr sz="1200">
              <a:solidFill>
                <a:schemeClr val="dk1"/>
              </a:solidFill>
            </a:endParaRPr>
          </a:p>
          <a:p>
            <a:pPr indent="0" lvl="0" marL="0" rtl="0" algn="l">
              <a:lnSpc>
                <a:spcPct val="115000"/>
              </a:lnSpc>
              <a:spcBef>
                <a:spcPts val="2400"/>
              </a:spcBef>
              <a:spcAft>
                <a:spcPts val="600"/>
              </a:spcAft>
              <a:buNone/>
            </a:pPr>
            <a:r>
              <a:t/>
            </a:r>
            <a:endParaRPr sz="1200">
              <a:solidFill>
                <a:schemeClr val="dk1"/>
              </a:solidFill>
            </a:endParaRPr>
          </a:p>
        </p:txBody>
      </p:sp>
      <p:sp>
        <p:nvSpPr>
          <p:cNvPr id="241" name="Google Shape;241;p36"/>
          <p:cNvSpPr txBox="1"/>
          <p:nvPr/>
        </p:nvSpPr>
        <p:spPr>
          <a:xfrm>
            <a:off x="1514400" y="2571750"/>
            <a:ext cx="61152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Table 2: Evaluation Scores for ATM Cobol file (LLM-as-Judge)</a:t>
            </a:r>
            <a:endParaRPr sz="1500">
              <a:solidFill>
                <a:schemeClr val="dk2"/>
              </a:solidFill>
            </a:endParaRPr>
          </a:p>
        </p:txBody>
      </p:sp>
      <p:sp>
        <p:nvSpPr>
          <p:cNvPr id="242" name="Google Shape;242;p36"/>
          <p:cNvSpPr txBox="1"/>
          <p:nvPr/>
        </p:nvSpPr>
        <p:spPr>
          <a:xfrm>
            <a:off x="6812100" y="797150"/>
            <a:ext cx="2020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Scale (0.0-10)</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Results - Aggregate Scores</a:t>
            </a:r>
            <a:endParaRPr/>
          </a:p>
        </p:txBody>
      </p:sp>
      <p:pic>
        <p:nvPicPr>
          <p:cNvPr id="248" name="Google Shape;248;p37"/>
          <p:cNvPicPr preferRelativeResize="0"/>
          <p:nvPr/>
        </p:nvPicPr>
        <p:blipFill>
          <a:blip r:embed="rId3">
            <a:alphaModFix/>
          </a:blip>
          <a:stretch>
            <a:fillRect/>
          </a:stretch>
        </p:blipFill>
        <p:spPr>
          <a:xfrm>
            <a:off x="1907750" y="1017725"/>
            <a:ext cx="5335826" cy="3844601"/>
          </a:xfrm>
          <a:prstGeom prst="rect">
            <a:avLst/>
          </a:prstGeom>
          <a:noFill/>
          <a:ln>
            <a:noFill/>
          </a:ln>
        </p:spPr>
      </p:pic>
      <p:sp>
        <p:nvSpPr>
          <p:cNvPr id="249" name="Google Shape;249;p37"/>
          <p:cNvSpPr txBox="1"/>
          <p:nvPr/>
        </p:nvSpPr>
        <p:spPr>
          <a:xfrm>
            <a:off x="1050625" y="4728000"/>
            <a:ext cx="6879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rPr>
              <a:t>Table-3: Project-level Aggregate Scores Across All Mocktail Modes</a:t>
            </a:r>
            <a:endParaRPr sz="1500">
              <a:solidFill>
                <a:schemeClr val="dk2"/>
              </a:solidFill>
            </a:endParaRPr>
          </a:p>
        </p:txBody>
      </p:sp>
      <p:sp>
        <p:nvSpPr>
          <p:cNvPr id="250" name="Google Shape;250;p37"/>
          <p:cNvSpPr txBox="1"/>
          <p:nvPr/>
        </p:nvSpPr>
        <p:spPr>
          <a:xfrm>
            <a:off x="6812100" y="797150"/>
            <a:ext cx="20202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Scale (0.0-1.0)</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256" name="Google Shape;256;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b="1" lang="en" sz="1300">
                <a:solidFill>
                  <a:schemeClr val="dk1"/>
                </a:solidFill>
              </a:rPr>
              <a:t>Mocktail-based representations outperform code-only prompts</a:t>
            </a:r>
            <a:r>
              <a:rPr lang="en" sz="1300">
                <a:solidFill>
                  <a:schemeClr val="dk1"/>
                </a:solidFill>
              </a:rPr>
              <a:t>, producing more accurate and semantically complete </a:t>
            </a:r>
            <a:r>
              <a:rPr lang="en" sz="1300">
                <a:solidFill>
                  <a:schemeClr val="dk1"/>
                </a:solidFill>
                <a:highlight>
                  <a:schemeClr val="lt1"/>
                </a:highlight>
              </a:rPr>
              <a:t>summaries.</a:t>
            </a:r>
            <a:br>
              <a:rPr lang="en" sz="1300">
                <a:solidFill>
                  <a:schemeClr val="dk1"/>
                </a:solidFill>
                <a:highlight>
                  <a:schemeClr val="lt1"/>
                </a:highlight>
              </a:rPr>
            </a:br>
            <a:endParaRPr sz="1300">
              <a:solidFill>
                <a:schemeClr val="dk1"/>
              </a:solidFill>
              <a:highlight>
                <a:schemeClr val="lt1"/>
              </a:highlight>
            </a:endParaRPr>
          </a:p>
          <a:p>
            <a:pPr indent="-311150" lvl="0" marL="457200" rtl="0" algn="l">
              <a:spcBef>
                <a:spcPts val="0"/>
              </a:spcBef>
              <a:spcAft>
                <a:spcPts val="0"/>
              </a:spcAft>
              <a:buClr>
                <a:schemeClr val="dk1"/>
              </a:buClr>
              <a:buSzPts val="1300"/>
              <a:buChar char="●"/>
            </a:pPr>
            <a:r>
              <a:rPr b="1" lang="en" sz="1300">
                <a:solidFill>
                  <a:schemeClr val="dk1"/>
                </a:solidFill>
                <a:highlight>
                  <a:schemeClr val="lt1"/>
                </a:highlight>
              </a:rPr>
              <a:t>BR + BRR–integrated mocktails achieve the highest evaluation scores</a:t>
            </a:r>
            <a:r>
              <a:rPr lang="en" sz="1300">
                <a:solidFill>
                  <a:schemeClr val="dk1"/>
                </a:solidFill>
                <a:highlight>
                  <a:schemeClr val="lt1"/>
                </a:highlight>
              </a:rPr>
              <a:t>, especially in completeness and functional correctness.</a:t>
            </a:r>
            <a:br>
              <a:rPr lang="en" sz="1300">
                <a:solidFill>
                  <a:schemeClr val="dk1"/>
                </a:solidFill>
                <a:highlight>
                  <a:schemeClr val="lt1"/>
                </a:highlight>
              </a:rPr>
            </a:br>
            <a:endParaRPr sz="1300">
              <a:solidFill>
                <a:schemeClr val="dk1"/>
              </a:solidFill>
              <a:highlight>
                <a:schemeClr val="lt1"/>
              </a:highlight>
            </a:endParaRPr>
          </a:p>
          <a:p>
            <a:pPr indent="-311150" lvl="0" marL="457200" rtl="0" algn="l">
              <a:spcBef>
                <a:spcPts val="0"/>
              </a:spcBef>
              <a:spcAft>
                <a:spcPts val="0"/>
              </a:spcAft>
              <a:buClr>
                <a:schemeClr val="dk1"/>
              </a:buClr>
              <a:buSzPts val="1300"/>
              <a:buChar char="●"/>
            </a:pPr>
            <a:r>
              <a:rPr b="1" lang="en" sz="1300">
                <a:solidFill>
                  <a:schemeClr val="dk1"/>
                </a:solidFill>
                <a:highlight>
                  <a:schemeClr val="lt1"/>
                </a:highlight>
              </a:rPr>
              <a:t>Multi-agent pipeline (rule-level + file-level) improves clarity</a:t>
            </a:r>
            <a:r>
              <a:rPr lang="en" sz="1300">
                <a:solidFill>
                  <a:schemeClr val="dk1"/>
                </a:solidFill>
                <a:highlight>
                  <a:schemeClr val="lt1"/>
                </a:highlight>
              </a:rPr>
              <a:t> compared to single-agent summarization.</a:t>
            </a:r>
            <a:br>
              <a:rPr lang="en" sz="1300">
                <a:solidFill>
                  <a:schemeClr val="dk1"/>
                </a:solidFill>
                <a:highlight>
                  <a:schemeClr val="lt1"/>
                </a:highlight>
              </a:rPr>
            </a:br>
            <a:endParaRPr sz="1300">
              <a:solidFill>
                <a:schemeClr val="dk1"/>
              </a:solidFill>
              <a:highlight>
                <a:schemeClr val="lt1"/>
              </a:highlight>
            </a:endParaRPr>
          </a:p>
          <a:p>
            <a:pPr indent="-311150" lvl="0" marL="457200" rtl="0" algn="l">
              <a:spcBef>
                <a:spcPts val="0"/>
              </a:spcBef>
              <a:spcAft>
                <a:spcPts val="0"/>
              </a:spcAft>
              <a:buClr>
                <a:schemeClr val="dk1"/>
              </a:buClr>
              <a:buSzPts val="1300"/>
              <a:buChar char="●"/>
            </a:pPr>
            <a:r>
              <a:rPr lang="en" sz="1300">
                <a:solidFill>
                  <a:schemeClr val="dk1"/>
                </a:solidFill>
                <a:highlight>
                  <a:schemeClr val="lt1"/>
                </a:highlight>
              </a:rPr>
              <a:t>File-level evaluation across 14 projects shows </a:t>
            </a:r>
            <a:r>
              <a:rPr b="1" lang="en" sz="1300">
                <a:solidFill>
                  <a:schemeClr val="dk1"/>
                </a:solidFill>
                <a:highlight>
                  <a:schemeClr val="lt1"/>
                </a:highlight>
              </a:rPr>
              <a:t>consistent gains in purpose and functionality metrics</a:t>
            </a:r>
            <a:r>
              <a:rPr lang="en" sz="1300">
                <a:solidFill>
                  <a:schemeClr val="dk1"/>
                </a:solidFill>
                <a:highlight>
                  <a:schemeClr val="lt1"/>
                </a:highlight>
              </a:rPr>
              <a:t>.</a:t>
            </a:r>
            <a:br>
              <a:rPr lang="en" sz="1300">
                <a:solidFill>
                  <a:schemeClr val="dk1"/>
                </a:solidFill>
                <a:highlight>
                  <a:schemeClr val="lt1"/>
                </a:highlight>
              </a:rPr>
            </a:br>
            <a:endParaRPr sz="1300">
              <a:solidFill>
                <a:schemeClr val="dk1"/>
              </a:solidFill>
              <a:highlight>
                <a:schemeClr val="lt1"/>
              </a:highlight>
            </a:endParaRPr>
          </a:p>
          <a:p>
            <a:pPr indent="-311150" lvl="0" marL="457200" rtl="0" algn="l">
              <a:spcBef>
                <a:spcPts val="0"/>
              </a:spcBef>
              <a:spcAft>
                <a:spcPts val="0"/>
              </a:spcAft>
              <a:buClr>
                <a:schemeClr val="dk1"/>
              </a:buClr>
              <a:buSzPts val="1300"/>
              <a:buChar char="●"/>
            </a:pPr>
            <a:r>
              <a:rPr lang="en" sz="1300">
                <a:solidFill>
                  <a:schemeClr val="dk1"/>
                </a:solidFill>
                <a:highlight>
                  <a:schemeClr val="lt1"/>
                </a:highlight>
              </a:rPr>
              <a:t>Project-level evaluation demonstrates </a:t>
            </a:r>
            <a:r>
              <a:rPr b="1" lang="en" sz="1300">
                <a:solidFill>
                  <a:schemeClr val="dk1"/>
                </a:solidFill>
                <a:highlight>
                  <a:schemeClr val="lt1"/>
                </a:highlight>
              </a:rPr>
              <a:t>stable performance across diverse COBOL codebases</a:t>
            </a:r>
            <a:r>
              <a:rPr lang="en" sz="1300">
                <a:solidFill>
                  <a:schemeClr val="dk1"/>
                </a:solidFill>
                <a:highlight>
                  <a:schemeClr val="lt1"/>
                </a:highlight>
              </a:rPr>
              <a:t>, confirming generalizability.</a:t>
            </a:r>
            <a:br>
              <a:rPr lang="en" sz="1300">
                <a:solidFill>
                  <a:schemeClr val="dk1"/>
                </a:solidFill>
                <a:highlight>
                  <a:schemeClr val="lt1"/>
                </a:highlight>
              </a:rPr>
            </a:br>
            <a:endParaRPr sz="1300">
              <a:solidFill>
                <a:schemeClr val="dk1"/>
              </a:solidFill>
              <a:highlight>
                <a:schemeClr val="lt1"/>
              </a:highlight>
            </a:endParaRPr>
          </a:p>
          <a:p>
            <a:pPr indent="-311150" lvl="0" marL="457200" rtl="0" algn="l">
              <a:spcBef>
                <a:spcPts val="0"/>
              </a:spcBef>
              <a:spcAft>
                <a:spcPts val="0"/>
              </a:spcAft>
              <a:buClr>
                <a:schemeClr val="dk1"/>
              </a:buClr>
              <a:buSzPts val="1300"/>
              <a:buChar char="●"/>
            </a:pPr>
            <a:r>
              <a:rPr lang="en" sz="1300">
                <a:solidFill>
                  <a:schemeClr val="dk1"/>
                </a:solidFill>
                <a:highlight>
                  <a:schemeClr val="lt1"/>
                </a:highlight>
              </a:rPr>
              <a:t>Comparison with the COBOL multi-agent baseline (2025) shows </a:t>
            </a:r>
            <a:r>
              <a:rPr b="1" lang="en" sz="1300">
                <a:solidFill>
                  <a:schemeClr val="dk1"/>
                </a:solidFill>
                <a:highlight>
                  <a:schemeClr val="lt1"/>
                </a:highlight>
              </a:rPr>
              <a:t>significant improvement in handling complex, multi-paragraph logic</a:t>
            </a:r>
            <a:r>
              <a:rPr lang="en" sz="1300">
                <a:solidFill>
                  <a:schemeClr val="dk1"/>
                </a:solidFill>
                <a:highlight>
                  <a:schemeClr val="lt1"/>
                </a:highlight>
              </a:rPr>
              <a:t>.</a:t>
            </a:r>
            <a:endParaRPr sz="2000">
              <a:highlight>
                <a:schemeClr val="lt1"/>
              </a:high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 Based on Obtained Results</a:t>
            </a:r>
            <a:endParaRPr/>
          </a:p>
        </p:txBody>
      </p:sp>
      <p:sp>
        <p:nvSpPr>
          <p:cNvPr id="262" name="Google Shape;262;p39"/>
          <p:cNvSpPr txBox="1"/>
          <p:nvPr>
            <p:ph idx="1" type="body"/>
          </p:nvPr>
        </p:nvSpPr>
        <p:spPr>
          <a:xfrm>
            <a:off x="223325" y="1017725"/>
            <a:ext cx="4420200" cy="39330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600">
                <a:solidFill>
                  <a:schemeClr val="dk1"/>
                </a:solidFill>
              </a:rPr>
              <a:t>Limitations</a:t>
            </a:r>
            <a:endParaRPr b="1" sz="16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Parser failures on </a:t>
            </a:r>
            <a:r>
              <a:rPr b="1" lang="en" sz="1100">
                <a:solidFill>
                  <a:schemeClr val="dk1"/>
                </a:solidFill>
              </a:rPr>
              <a:t>SQL/CICS</a:t>
            </a:r>
            <a:r>
              <a:rPr lang="en" sz="1100">
                <a:solidFill>
                  <a:schemeClr val="dk1"/>
                </a:solidFill>
              </a:rPr>
              <a:t>, copybooks, and COBOL dialect variations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A-COBREX constraints lead to </a:t>
            </a:r>
            <a:r>
              <a:rPr b="1" lang="en" sz="1100">
                <a:solidFill>
                  <a:schemeClr val="dk1"/>
                </a:solidFill>
              </a:rPr>
              <a:t>incomplete BRR extraction</a:t>
            </a:r>
            <a:br>
              <a:rPr b="1" lang="en" sz="1100">
                <a:solidFill>
                  <a:schemeClr val="dk1"/>
                </a:solidFill>
              </a:rPr>
            </a:b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Mocktail failures when </a:t>
            </a:r>
            <a:r>
              <a:rPr b="1" lang="en" sz="1100">
                <a:solidFill>
                  <a:schemeClr val="dk1"/>
                </a:solidFill>
              </a:rPr>
              <a:t>any structural graph (AST/CFG/DFG/PDG)</a:t>
            </a:r>
            <a:r>
              <a:rPr lang="en" sz="1100">
                <a:solidFill>
                  <a:schemeClr val="dk1"/>
                </a:solidFill>
              </a:rPr>
              <a:t> is missing</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No </a:t>
            </a:r>
            <a:r>
              <a:rPr b="1" lang="en" sz="1100">
                <a:solidFill>
                  <a:schemeClr val="dk1"/>
                </a:solidFill>
              </a:rPr>
              <a:t>cross-file</a:t>
            </a:r>
            <a:r>
              <a:rPr lang="en" sz="1100">
                <a:solidFill>
                  <a:schemeClr val="dk1"/>
                </a:solidFill>
              </a:rPr>
              <a:t> or system-level business-rule merging</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Multi-agent LLM has </a:t>
            </a:r>
            <a:r>
              <a:rPr b="1" lang="en" sz="1100">
                <a:solidFill>
                  <a:schemeClr val="dk1"/>
                </a:solidFill>
              </a:rPr>
              <a:t>no global context memory</a:t>
            </a:r>
            <a:br>
              <a:rPr b="1" lang="en" sz="1100">
                <a:solidFill>
                  <a:schemeClr val="dk1"/>
                </a:solidFill>
              </a:rPr>
            </a:b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Dataset filtering reduced total </a:t>
            </a:r>
            <a:r>
              <a:rPr b="1" lang="en" sz="1100">
                <a:solidFill>
                  <a:schemeClr val="dk1"/>
                </a:solidFill>
              </a:rPr>
              <a:t>processed files</a:t>
            </a:r>
            <a:br>
              <a:rPr b="1" lang="en" sz="1100">
                <a:solidFill>
                  <a:schemeClr val="dk1"/>
                </a:solidFill>
              </a:rPr>
            </a:b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Evaluation depends mainly on </a:t>
            </a:r>
            <a:r>
              <a:rPr b="1" lang="en" sz="1100">
                <a:solidFill>
                  <a:schemeClr val="dk1"/>
                </a:solidFill>
              </a:rPr>
              <a:t>LLM-as-Judge</a:t>
            </a:r>
            <a:br>
              <a:rPr b="1" lang="en" sz="1100">
                <a:solidFill>
                  <a:schemeClr val="dk1"/>
                </a:solidFill>
              </a:rPr>
            </a:br>
            <a:br>
              <a:rPr lang="en" sz="1000">
                <a:solidFill>
                  <a:schemeClr val="dk1"/>
                </a:solidFill>
              </a:rPr>
            </a:br>
            <a:endParaRPr sz="1000">
              <a:solidFill>
                <a:schemeClr val="dk1"/>
              </a:solidFill>
            </a:endParaRPr>
          </a:p>
          <a:p>
            <a:pPr indent="0" lvl="0" marL="0" rtl="0" algn="l">
              <a:spcBef>
                <a:spcPts val="1200"/>
              </a:spcBef>
              <a:spcAft>
                <a:spcPts val="1200"/>
              </a:spcAft>
              <a:buNone/>
            </a:pPr>
            <a:r>
              <a:t/>
            </a:r>
            <a:endParaRPr sz="1000"/>
          </a:p>
        </p:txBody>
      </p:sp>
      <p:sp>
        <p:nvSpPr>
          <p:cNvPr id="263" name="Google Shape;263;p39"/>
          <p:cNvSpPr txBox="1"/>
          <p:nvPr/>
        </p:nvSpPr>
        <p:spPr>
          <a:xfrm>
            <a:off x="4946425" y="1017725"/>
            <a:ext cx="3953700" cy="312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Possible Improvements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Hybrid parsing with </a:t>
            </a:r>
            <a:r>
              <a:rPr b="1" lang="en" sz="1100">
                <a:solidFill>
                  <a:schemeClr val="dk1"/>
                </a:solidFill>
              </a:rPr>
              <a:t>grammar repair + SQL/CICS normalization</a:t>
            </a:r>
            <a:br>
              <a:rPr b="1" lang="en" sz="1100">
                <a:solidFill>
                  <a:schemeClr val="dk1"/>
                </a:solidFill>
              </a:rPr>
            </a:b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Soft BRR merging and </a:t>
            </a:r>
            <a:r>
              <a:rPr b="1" lang="en" sz="1100">
                <a:solidFill>
                  <a:schemeClr val="dk1"/>
                </a:solidFill>
              </a:rPr>
              <a:t>partial rule extraction</a:t>
            </a:r>
            <a:br>
              <a:rPr b="1" lang="en" sz="1100">
                <a:solidFill>
                  <a:schemeClr val="dk1"/>
                </a:solidFill>
              </a:rPr>
            </a:b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Interprocedural</a:t>
            </a:r>
            <a:r>
              <a:rPr lang="en" sz="1100">
                <a:solidFill>
                  <a:schemeClr val="dk1"/>
                </a:solidFill>
              </a:rPr>
              <a:t> rule extraction &amp; copybook linking</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Add a </a:t>
            </a:r>
            <a:r>
              <a:rPr b="1" lang="en" sz="1100">
                <a:solidFill>
                  <a:schemeClr val="dk1"/>
                </a:solidFill>
              </a:rPr>
              <a:t>Memory Agent</a:t>
            </a:r>
            <a:r>
              <a:rPr lang="en" sz="1100">
                <a:solidFill>
                  <a:schemeClr val="dk1"/>
                </a:solidFill>
              </a:rPr>
              <a:t> to preserve file-level context</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Expand dataset + auto-generate missing comments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Combine </a:t>
            </a:r>
            <a:r>
              <a:rPr b="1" lang="en" sz="1100">
                <a:solidFill>
                  <a:schemeClr val="dk1"/>
                </a:solidFill>
              </a:rPr>
              <a:t>human + metric-based</a:t>
            </a:r>
            <a:r>
              <a:rPr lang="en" sz="1100">
                <a:solidFill>
                  <a:schemeClr val="dk1"/>
                </a:solidFill>
              </a:rPr>
              <a:t> evaluation</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Build </a:t>
            </a:r>
            <a:r>
              <a:rPr b="1" lang="en" sz="1100">
                <a:solidFill>
                  <a:schemeClr val="dk1"/>
                </a:solidFill>
              </a:rPr>
              <a:t>COBOL-specific</a:t>
            </a:r>
            <a:r>
              <a:rPr lang="en" sz="1100">
                <a:solidFill>
                  <a:schemeClr val="dk1"/>
                </a:solidFill>
              </a:rPr>
              <a:t> representations &amp; domain ontologies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900">
              <a:solidFill>
                <a:schemeClr val="dk1"/>
              </a:solidFill>
            </a:endParaRPr>
          </a:p>
          <a:p>
            <a:pPr indent="0" lvl="0" marL="0" rtl="0" algn="l">
              <a:lnSpc>
                <a:spcPct val="115000"/>
              </a:lnSpc>
              <a:spcBef>
                <a:spcPts val="1200"/>
              </a:spcBef>
              <a:spcAft>
                <a:spcPts val="1200"/>
              </a:spcAft>
              <a:buNone/>
            </a:pPr>
            <a:r>
              <a:t/>
            </a:r>
            <a:endParaRPr b="1" sz="1100">
              <a:solidFill>
                <a:schemeClr val="dk1"/>
              </a:solidFill>
            </a:endParaRPr>
          </a:p>
        </p:txBody>
      </p:sp>
      <p:cxnSp>
        <p:nvCxnSpPr>
          <p:cNvPr id="264" name="Google Shape;264;p39"/>
          <p:cNvCxnSpPr/>
          <p:nvPr/>
        </p:nvCxnSpPr>
        <p:spPr>
          <a:xfrm>
            <a:off x="4703050" y="1116275"/>
            <a:ext cx="15000" cy="3839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270" name="Google Shape;270;p40"/>
          <p:cNvSpPr txBox="1"/>
          <p:nvPr>
            <p:ph idx="1" type="body"/>
          </p:nvPr>
        </p:nvSpPr>
        <p:spPr>
          <a:xfrm>
            <a:off x="311700" y="1152475"/>
            <a:ext cx="8520600" cy="37179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chemeClr val="dk1"/>
              </a:buClr>
              <a:buSzPts val="1300"/>
              <a:buChar char="●"/>
            </a:pPr>
            <a:r>
              <a:rPr b="1" lang="en" sz="1300">
                <a:solidFill>
                  <a:schemeClr val="dk1"/>
                </a:solidFill>
              </a:rPr>
              <a:t>Business-rule–centric </a:t>
            </a:r>
            <a:r>
              <a:rPr lang="en" sz="1300">
                <a:solidFill>
                  <a:schemeClr val="dk1"/>
                </a:solidFill>
              </a:rPr>
              <a:t>understanding is essential for interpreting legacy COBOL systems.</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A-COBREX–based BRR extraction provides the right </a:t>
            </a:r>
            <a:r>
              <a:rPr b="1" lang="en" sz="1300">
                <a:solidFill>
                  <a:schemeClr val="dk1"/>
                </a:solidFill>
              </a:rPr>
              <a:t>semantic granularity </a:t>
            </a:r>
            <a:r>
              <a:rPr lang="en" sz="1300">
                <a:solidFill>
                  <a:schemeClr val="dk1"/>
                </a:solidFill>
              </a:rPr>
              <a:t>for summarization.</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Multi-source structural views (AST, CFG, DFG, PDG) significantly </a:t>
            </a:r>
            <a:r>
              <a:rPr b="1" lang="en" sz="1300">
                <a:solidFill>
                  <a:schemeClr val="dk1"/>
                </a:solidFill>
              </a:rPr>
              <a:t>enrich semantic accuracy.</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Mocktail combinations—especially those integrating </a:t>
            </a:r>
            <a:r>
              <a:rPr b="1" lang="en" sz="1300">
                <a:solidFill>
                  <a:schemeClr val="dk1"/>
                </a:solidFill>
              </a:rPr>
              <a:t>BR + BRR + structural graphs</a:t>
            </a:r>
            <a:r>
              <a:rPr lang="en" sz="1300">
                <a:solidFill>
                  <a:schemeClr val="dk1"/>
                </a:solidFill>
              </a:rPr>
              <a:t>—produce far better summaries than code-only prompting.</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The two-agent LLM architecture improves clarity by separating </a:t>
            </a:r>
            <a:r>
              <a:rPr b="1" lang="en" sz="1300">
                <a:solidFill>
                  <a:schemeClr val="dk1"/>
                </a:solidFill>
              </a:rPr>
              <a:t>rule-level reasoning</a:t>
            </a:r>
            <a:r>
              <a:rPr lang="en" sz="1300">
                <a:solidFill>
                  <a:schemeClr val="dk1"/>
                </a:solidFill>
              </a:rPr>
              <a:t> from </a:t>
            </a:r>
            <a:r>
              <a:rPr b="1" lang="en" sz="1300">
                <a:solidFill>
                  <a:schemeClr val="dk1"/>
                </a:solidFill>
              </a:rPr>
              <a:t>file-level synthesis</a:t>
            </a:r>
            <a:r>
              <a:rPr lang="en" sz="1300">
                <a:solidFill>
                  <a:schemeClr val="dk1"/>
                </a:solidFill>
              </a:rPr>
              <a:t>.</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Overall, the framework establishes a strong foundation for automated COBOL comprehension and modernization support.</a:t>
            </a:r>
            <a:endParaRPr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276" name="Google Shape;276;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chemeClr val="dk1"/>
              </a:buClr>
              <a:buSzPts val="1300"/>
              <a:buChar char="●"/>
            </a:pPr>
            <a:r>
              <a:rPr lang="en" sz="1300">
                <a:solidFill>
                  <a:schemeClr val="dk1"/>
                </a:solidFill>
              </a:rPr>
              <a:t>Improve tolerant parsing to handle </a:t>
            </a:r>
            <a:r>
              <a:rPr b="1" lang="en" sz="1300">
                <a:solidFill>
                  <a:schemeClr val="dk1"/>
                </a:solidFill>
              </a:rPr>
              <a:t>embedded SQL, CICS commands, and copybooks</a:t>
            </a:r>
            <a:r>
              <a:rPr lang="en" sz="1300">
                <a:solidFill>
                  <a:schemeClr val="dk1"/>
                </a:solidFill>
              </a:rPr>
              <a:t> more reliably.</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Enhance </a:t>
            </a:r>
            <a:r>
              <a:rPr b="1" lang="en" sz="1300">
                <a:solidFill>
                  <a:schemeClr val="dk1"/>
                </a:solidFill>
              </a:rPr>
              <a:t>BRR reconstruction</a:t>
            </a:r>
            <a:r>
              <a:rPr lang="en" sz="1300">
                <a:solidFill>
                  <a:schemeClr val="dk1"/>
                </a:solidFill>
              </a:rPr>
              <a:t> for complex multi-variable business rules and cross-program flows.</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Integrate </a:t>
            </a:r>
            <a:r>
              <a:rPr b="1" lang="en" sz="1300">
                <a:solidFill>
                  <a:schemeClr val="dk1"/>
                </a:solidFill>
              </a:rPr>
              <a:t>retrieval-augmented LLMs</a:t>
            </a:r>
            <a:r>
              <a:rPr lang="en" sz="1300">
                <a:solidFill>
                  <a:schemeClr val="dk1"/>
                </a:solidFill>
              </a:rPr>
              <a:t> or </a:t>
            </a:r>
            <a:r>
              <a:rPr b="1" lang="en" sz="1300">
                <a:solidFill>
                  <a:schemeClr val="dk1"/>
                </a:solidFill>
              </a:rPr>
              <a:t>COBOL-specific ontologies</a:t>
            </a:r>
            <a:r>
              <a:rPr lang="en" sz="1300">
                <a:solidFill>
                  <a:schemeClr val="dk1"/>
                </a:solidFill>
              </a:rPr>
              <a:t> for more accurate summaries.</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Extend mocktail representations to include </a:t>
            </a:r>
            <a:r>
              <a:rPr b="1" lang="en" sz="1300">
                <a:solidFill>
                  <a:schemeClr val="dk1"/>
                </a:solidFill>
              </a:rPr>
              <a:t>data layouts, file I/O schemas, and domain metadata</a:t>
            </a:r>
            <a:r>
              <a:rPr lang="en" sz="1300">
                <a:solidFill>
                  <a:schemeClr val="dk1"/>
                </a:solidFill>
              </a:rPr>
              <a:t>.</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Explore </a:t>
            </a:r>
            <a:r>
              <a:rPr b="1" lang="en" sz="1300">
                <a:solidFill>
                  <a:schemeClr val="dk1"/>
                </a:solidFill>
              </a:rPr>
              <a:t>cross-language coexistence of code representations</a:t>
            </a:r>
            <a:r>
              <a:rPr lang="en" sz="1300">
                <a:solidFill>
                  <a:schemeClr val="dk1"/>
                </a:solidFill>
              </a:rPr>
              <a:t>—building a unified framework that aligns COBOL structures with modern languages (e.g., Java/Python) for modernization workflows.</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Expand dataset, incorporate </a:t>
            </a:r>
            <a:r>
              <a:rPr b="1" lang="en" sz="1300">
                <a:solidFill>
                  <a:schemeClr val="dk1"/>
                </a:solidFill>
              </a:rPr>
              <a:t>human-in-the-loop evaluation</a:t>
            </a:r>
            <a:r>
              <a:rPr lang="en" sz="1300">
                <a:solidFill>
                  <a:schemeClr val="dk1"/>
                </a:solidFill>
              </a:rPr>
              <a:t>, and explore richer </a:t>
            </a:r>
            <a:r>
              <a:rPr b="1" lang="en" sz="1300">
                <a:solidFill>
                  <a:schemeClr val="dk1"/>
                </a:solidFill>
              </a:rPr>
              <a:t>multi-agent strategies</a:t>
            </a:r>
            <a:r>
              <a:rPr lang="en" sz="1300">
                <a:solidFill>
                  <a:schemeClr val="dk1"/>
                </a:solidFill>
              </a:rPr>
              <a:t> for robust summarization.</a:t>
            </a:r>
            <a:endParaRPr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Contributions</a:t>
            </a:r>
            <a:endParaRPr/>
          </a:p>
        </p:txBody>
      </p:sp>
      <p:sp>
        <p:nvSpPr>
          <p:cNvPr id="282" name="Google Shape;282;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400">
                <a:solidFill>
                  <a:schemeClr val="dk1"/>
                </a:solidFill>
              </a:rPr>
              <a:t>Contributions of G. Kavyasri</a:t>
            </a:r>
            <a:endParaRPr b="1" sz="14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Implemented </a:t>
            </a:r>
            <a:r>
              <a:rPr b="1" lang="en" sz="1200">
                <a:solidFill>
                  <a:schemeClr val="dk1"/>
                </a:solidFill>
              </a:rPr>
              <a:t>mocktail construction modules</a:t>
            </a:r>
            <a:r>
              <a:rPr lang="en" sz="1200">
                <a:solidFill>
                  <a:schemeClr val="dk1"/>
                </a:solidFill>
              </a:rPr>
              <a:t> and structural artifact processing (AST, CFG, DFG, PDG).</a:t>
            </a:r>
            <a:br>
              <a:rPr lang="en"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Assisted in </a:t>
            </a:r>
            <a:r>
              <a:rPr b="1" lang="en" sz="1200">
                <a:solidFill>
                  <a:schemeClr val="dk1"/>
                </a:solidFill>
              </a:rPr>
              <a:t>rule-level slicing</a:t>
            </a:r>
            <a:r>
              <a:rPr lang="en" sz="1200">
                <a:solidFill>
                  <a:schemeClr val="dk1"/>
                </a:solidFill>
              </a:rPr>
              <a:t>, representation formatting, and evaluation script creation.</a:t>
            </a:r>
            <a:br>
              <a:rPr lang="en"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Led </a:t>
            </a:r>
            <a:r>
              <a:rPr b="1" lang="en" sz="1200">
                <a:solidFill>
                  <a:schemeClr val="dk1"/>
                </a:solidFill>
              </a:rPr>
              <a:t>dataset preprocessing</a:t>
            </a:r>
            <a:r>
              <a:rPr lang="en" sz="1200">
                <a:solidFill>
                  <a:schemeClr val="dk1"/>
                </a:solidFill>
              </a:rPr>
              <a:t>, large-scale evaluation runs, and manual summary verification.</a:t>
            </a:r>
            <a:br>
              <a:rPr lang="en" sz="1200">
                <a:solidFill>
                  <a:schemeClr val="dk1"/>
                </a:solidFill>
              </a:rPr>
            </a:br>
            <a:endParaRPr sz="1200">
              <a:solidFill>
                <a:schemeClr val="dk1"/>
              </a:solidFill>
            </a:endParaRPr>
          </a:p>
          <a:p>
            <a:pPr indent="0" lvl="0" marL="0" rtl="0" algn="l">
              <a:spcBef>
                <a:spcPts val="1400"/>
              </a:spcBef>
              <a:spcAft>
                <a:spcPts val="0"/>
              </a:spcAft>
              <a:buNone/>
            </a:pPr>
            <a:r>
              <a:rPr b="1" lang="en" sz="1400">
                <a:solidFill>
                  <a:schemeClr val="dk1"/>
                </a:solidFill>
              </a:rPr>
              <a:t>Contributions of K. Phanindra</a:t>
            </a:r>
            <a:endParaRPr b="1" sz="14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Designed the </a:t>
            </a:r>
            <a:r>
              <a:rPr b="1" lang="en" sz="1200">
                <a:solidFill>
                  <a:schemeClr val="dk1"/>
                </a:solidFill>
              </a:rPr>
              <a:t>overall methodology</a:t>
            </a:r>
            <a:r>
              <a:rPr lang="en" sz="1200">
                <a:solidFill>
                  <a:schemeClr val="dk1"/>
                </a:solidFill>
              </a:rPr>
              <a:t>: multi-source representations + multi-agent workflow.</a:t>
            </a:r>
            <a:br>
              <a:rPr lang="en"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Implemented </a:t>
            </a:r>
            <a:r>
              <a:rPr b="1" lang="en" sz="1200">
                <a:solidFill>
                  <a:schemeClr val="dk1"/>
                </a:solidFill>
              </a:rPr>
              <a:t>tolerant parsing</a:t>
            </a:r>
            <a:r>
              <a:rPr lang="en" sz="1200">
                <a:solidFill>
                  <a:schemeClr val="dk1"/>
                </a:solidFill>
              </a:rPr>
              <a:t>, A-COBREX-based BRR logic, and evaluation pipeline integration.</a:t>
            </a:r>
            <a:br>
              <a:rPr lang="en"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Led </a:t>
            </a:r>
            <a:r>
              <a:rPr b="1" lang="en" sz="1200">
                <a:solidFill>
                  <a:schemeClr val="dk1"/>
                </a:solidFill>
              </a:rPr>
              <a:t>dataset curation</a:t>
            </a:r>
            <a:r>
              <a:rPr lang="en" sz="1200">
                <a:solidFill>
                  <a:schemeClr val="dk1"/>
                </a:solidFill>
              </a:rPr>
              <a:t>, project-level analysis, orchestration of artifacts, and major thesis writing.</a:t>
            </a:r>
            <a:endParaRPr sz="19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288" name="Google Shape;288;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3211" lvl="0" marL="457200" rtl="0" algn="l">
              <a:lnSpc>
                <a:spcPct val="95000"/>
              </a:lnSpc>
              <a:spcBef>
                <a:spcPts val="1200"/>
              </a:spcBef>
              <a:spcAft>
                <a:spcPts val="0"/>
              </a:spcAft>
              <a:buClr>
                <a:schemeClr val="dk1"/>
              </a:buClr>
              <a:buSzPts val="1018"/>
              <a:buAutoNum type="arabicPeriod"/>
            </a:pPr>
            <a:r>
              <a:rPr b="1" lang="en" sz="1017">
                <a:solidFill>
                  <a:schemeClr val="dk1"/>
                </a:solidFill>
              </a:rPr>
              <a:t>Vagavolu, Dheeraj, Karthik Chandra Swarna, and Sridhar Chimalakonda.</a:t>
            </a:r>
            <a:r>
              <a:rPr lang="en" sz="1017">
                <a:solidFill>
                  <a:schemeClr val="dk1"/>
                </a:solidFill>
              </a:rPr>
              <a:t> 2021. “A Mocktail of Source Code Representations.” </a:t>
            </a:r>
            <a:r>
              <a:rPr i="1" lang="en" sz="1017">
                <a:solidFill>
                  <a:schemeClr val="dk1"/>
                </a:solidFill>
              </a:rPr>
              <a:t>In Proceedings of the 36th IEEE/ACM International Conference on Automated Software Engineering (ASE)</a:t>
            </a:r>
            <a:r>
              <a:rPr lang="en" sz="1017">
                <a:solidFill>
                  <a:schemeClr val="dk1"/>
                </a:solidFill>
              </a:rPr>
              <a:t>, 1296–1300.</a:t>
            </a:r>
            <a:br>
              <a:rPr lang="en" sz="1017">
                <a:solidFill>
                  <a:schemeClr val="dk1"/>
                </a:solidFill>
              </a:rPr>
            </a:br>
            <a:endParaRPr sz="1017">
              <a:solidFill>
                <a:schemeClr val="dk1"/>
              </a:solidFill>
            </a:endParaRPr>
          </a:p>
          <a:p>
            <a:pPr indent="-293211" lvl="0" marL="457200" rtl="0" algn="l">
              <a:lnSpc>
                <a:spcPct val="95000"/>
              </a:lnSpc>
              <a:spcBef>
                <a:spcPts val="0"/>
              </a:spcBef>
              <a:spcAft>
                <a:spcPts val="0"/>
              </a:spcAft>
              <a:buClr>
                <a:schemeClr val="dk1"/>
              </a:buClr>
              <a:buSzPts val="1018"/>
              <a:buAutoNum type="arabicPeriod"/>
            </a:pPr>
            <a:r>
              <a:rPr b="1" lang="en" sz="1017">
                <a:solidFill>
                  <a:schemeClr val="dk1"/>
                </a:solidFill>
              </a:rPr>
              <a:t>Ali, Mir Sameed, Nikhil Manjunath, and Sridhar Chimalakonda.</a:t>
            </a:r>
            <a:r>
              <a:rPr lang="en" sz="1017">
                <a:solidFill>
                  <a:schemeClr val="dk1"/>
                </a:solidFill>
              </a:rPr>
              <a:t> 2022. “COBREX: Extracting Business Rules from COBOL.” </a:t>
            </a:r>
            <a:r>
              <a:rPr i="1" lang="en" sz="1017">
                <a:solidFill>
                  <a:schemeClr val="dk1"/>
                </a:solidFill>
              </a:rPr>
              <a:t>In 2022 IEEE International Conference on Software Maintenance and Evolution (ICSME)</a:t>
            </a:r>
            <a:r>
              <a:rPr lang="en" sz="1017">
                <a:solidFill>
                  <a:schemeClr val="dk1"/>
                </a:solidFill>
              </a:rPr>
              <a:t>, 273–278.</a:t>
            </a:r>
            <a:br>
              <a:rPr lang="en" sz="1017">
                <a:solidFill>
                  <a:schemeClr val="dk1"/>
                </a:solidFill>
              </a:rPr>
            </a:br>
            <a:endParaRPr sz="1017">
              <a:solidFill>
                <a:schemeClr val="dk1"/>
              </a:solidFill>
            </a:endParaRPr>
          </a:p>
          <a:p>
            <a:pPr indent="-293211" lvl="0" marL="457200" rtl="0" algn="l">
              <a:lnSpc>
                <a:spcPct val="95000"/>
              </a:lnSpc>
              <a:spcBef>
                <a:spcPts val="0"/>
              </a:spcBef>
              <a:spcAft>
                <a:spcPts val="0"/>
              </a:spcAft>
              <a:buClr>
                <a:schemeClr val="dk1"/>
              </a:buClr>
              <a:buSzPts val="1018"/>
              <a:buAutoNum type="arabicPeriod"/>
            </a:pPr>
            <a:r>
              <a:rPr b="1" lang="en" sz="1017">
                <a:solidFill>
                  <a:schemeClr val="dk1"/>
                </a:solidFill>
              </a:rPr>
              <a:t>Ali, Mir Sameed, Nikhil Manjunath, and Sridhar Chimalakonda.</a:t>
            </a:r>
            <a:r>
              <a:rPr lang="en" sz="1017">
                <a:solidFill>
                  <a:schemeClr val="dk1"/>
                </a:solidFill>
              </a:rPr>
              <a:t> 2023. “X-COBOL: A Dataset of COBOL Repositories.” </a:t>
            </a:r>
            <a:r>
              <a:rPr i="1" lang="en" sz="1017">
                <a:solidFill>
                  <a:schemeClr val="dk1"/>
                </a:solidFill>
              </a:rPr>
              <a:t>arXiv preprint arXiv:2306.04892</a:t>
            </a:r>
            <a:r>
              <a:rPr lang="en" sz="1017">
                <a:solidFill>
                  <a:schemeClr val="dk1"/>
                </a:solidFill>
              </a:rPr>
              <a:t>.</a:t>
            </a:r>
            <a:br>
              <a:rPr lang="en" sz="1017">
                <a:solidFill>
                  <a:schemeClr val="dk1"/>
                </a:solidFill>
              </a:rPr>
            </a:br>
            <a:endParaRPr sz="1017">
              <a:solidFill>
                <a:schemeClr val="dk1"/>
              </a:solidFill>
            </a:endParaRPr>
          </a:p>
          <a:p>
            <a:pPr indent="-293211" lvl="0" marL="457200" rtl="0" algn="l">
              <a:lnSpc>
                <a:spcPct val="95000"/>
              </a:lnSpc>
              <a:spcBef>
                <a:spcPts val="0"/>
              </a:spcBef>
              <a:spcAft>
                <a:spcPts val="0"/>
              </a:spcAft>
              <a:buClr>
                <a:schemeClr val="dk1"/>
              </a:buClr>
              <a:buSzPts val="1018"/>
              <a:buAutoNum type="arabicPeriod"/>
            </a:pPr>
            <a:r>
              <a:rPr b="1" lang="en" sz="1017">
                <a:solidFill>
                  <a:schemeClr val="dk1"/>
                </a:solidFill>
              </a:rPr>
              <a:t>Das, Debeshee, Noble Saji Mathews, Alex Mathai, Srikanth Tamilselvam, Kranthi Sedamaki, Sridhar Chimalakonda, and Atul Kumar.</a:t>
            </a:r>
            <a:r>
              <a:rPr lang="en" sz="1017">
                <a:solidFill>
                  <a:schemeClr val="dk1"/>
                </a:solidFill>
              </a:rPr>
              <a:t> 2023. “COMEX: Customized Source Code Representations.” </a:t>
            </a:r>
            <a:r>
              <a:rPr i="1" lang="en" sz="1017">
                <a:solidFill>
                  <a:schemeClr val="dk1"/>
                </a:solidFill>
              </a:rPr>
              <a:t>In Proceedings of the 38th IEEE/ACM International Conference on Automated Software Engineering (ASE)</a:t>
            </a:r>
            <a:r>
              <a:rPr lang="en" sz="1017">
                <a:solidFill>
                  <a:schemeClr val="dk1"/>
                </a:solidFill>
              </a:rPr>
              <a:t>, 2054–2057.</a:t>
            </a:r>
            <a:br>
              <a:rPr lang="en" sz="1017">
                <a:solidFill>
                  <a:schemeClr val="dk1"/>
                </a:solidFill>
              </a:rPr>
            </a:br>
            <a:endParaRPr sz="1017">
              <a:solidFill>
                <a:schemeClr val="dk1"/>
              </a:solidFill>
            </a:endParaRPr>
          </a:p>
          <a:p>
            <a:pPr indent="-293211" lvl="0" marL="457200" rtl="0" algn="l">
              <a:lnSpc>
                <a:spcPct val="95000"/>
              </a:lnSpc>
              <a:spcBef>
                <a:spcPts val="0"/>
              </a:spcBef>
              <a:spcAft>
                <a:spcPts val="0"/>
              </a:spcAft>
              <a:buClr>
                <a:schemeClr val="dk1"/>
              </a:buClr>
              <a:buSzPts val="1018"/>
              <a:buAutoNum type="arabicPeriod"/>
            </a:pPr>
            <a:r>
              <a:rPr b="1" lang="en" sz="1017">
                <a:solidFill>
                  <a:schemeClr val="dk1"/>
                </a:solidFill>
              </a:rPr>
              <a:t>Shah, Samveg, Shivali Agarwal, Saravanan Krishnan, Vini Kanvar, and Sridhar Chimalakonda.</a:t>
            </a:r>
            <a:r>
              <a:rPr lang="en" sz="1017">
                <a:solidFill>
                  <a:schemeClr val="dk1"/>
                </a:solidFill>
              </a:rPr>
              <a:t> 2025. “A-COBREX: Identifying Business Rules in COBOL Programs.” </a:t>
            </a:r>
            <a:r>
              <a:rPr i="1" lang="en" sz="1017">
                <a:solidFill>
                  <a:schemeClr val="dk1"/>
                </a:solidFill>
              </a:rPr>
              <a:t>In 2025 IEEE/ACM 47th International Conference on Software Engineering: Companion Proceedings (ICSE-Companion)</a:t>
            </a:r>
            <a:r>
              <a:rPr lang="en" sz="1017">
                <a:solidFill>
                  <a:schemeClr val="dk1"/>
                </a:solidFill>
              </a:rPr>
              <a:t>, 5–8.</a:t>
            </a:r>
            <a:br>
              <a:rPr lang="en" sz="1017">
                <a:solidFill>
                  <a:schemeClr val="dk1"/>
                </a:solidFill>
              </a:rPr>
            </a:br>
            <a:endParaRPr sz="1017">
              <a:solidFill>
                <a:schemeClr val="dk1"/>
              </a:solidFill>
            </a:endParaRPr>
          </a:p>
          <a:p>
            <a:pPr indent="-293211" lvl="0" marL="457200" rtl="0" algn="l">
              <a:lnSpc>
                <a:spcPct val="95000"/>
              </a:lnSpc>
              <a:spcBef>
                <a:spcPts val="0"/>
              </a:spcBef>
              <a:spcAft>
                <a:spcPts val="0"/>
              </a:spcAft>
              <a:buClr>
                <a:schemeClr val="dk1"/>
              </a:buClr>
              <a:buSzPts val="1018"/>
              <a:buAutoNum type="arabicPeriod"/>
            </a:pPr>
            <a:r>
              <a:rPr b="1" lang="en" sz="1017">
                <a:solidFill>
                  <a:schemeClr val="dk1"/>
                </a:solidFill>
              </a:rPr>
              <a:t>Lei, Fangjian, Jiawen Liu, Shayan Noei, Ying Zou, Derek Truong, and William Alexander.</a:t>
            </a:r>
            <a:r>
              <a:rPr lang="en" sz="1017">
                <a:solidFill>
                  <a:schemeClr val="dk1"/>
                </a:solidFill>
              </a:rPr>
              <a:t> 2025. “Enhancing COBOL Code Explanations with Multi-Agents Using Large Language Models.” </a:t>
            </a:r>
            <a:r>
              <a:rPr i="1" lang="en" sz="1017">
                <a:solidFill>
                  <a:schemeClr val="dk1"/>
                </a:solidFill>
              </a:rPr>
              <a:t>arXiv preprint arXiv:2507.02182</a:t>
            </a:r>
            <a:r>
              <a:rPr lang="en" sz="1017">
                <a:solidFill>
                  <a:schemeClr val="dk1"/>
                </a:solidFill>
              </a:rPr>
              <a:t>.</a:t>
            </a:r>
            <a:br>
              <a:rPr lang="en" sz="1017">
                <a:solidFill>
                  <a:schemeClr val="dk1"/>
                </a:solidFill>
              </a:rPr>
            </a:br>
            <a:br>
              <a:rPr lang="en" sz="1017">
                <a:solidFill>
                  <a:schemeClr val="dk1"/>
                </a:solidFill>
              </a:rPr>
            </a:br>
            <a:r>
              <a:rPr lang="en" sz="1017">
                <a:solidFill>
                  <a:schemeClr val="dk1"/>
                </a:solidFill>
              </a:rPr>
              <a:t>    Github link - </a:t>
            </a:r>
            <a:r>
              <a:rPr lang="en" sz="1017" u="sng">
                <a:solidFill>
                  <a:schemeClr val="hlink"/>
                </a:solidFill>
                <a:hlinkClick r:id="rId3"/>
              </a:rPr>
              <a:t>https://github.com/cs24m111/mtp-cobol-mocktail-summarization.git.</a:t>
            </a:r>
            <a:br>
              <a:rPr lang="en" sz="1017" u="sng">
                <a:solidFill>
                  <a:schemeClr val="hlink"/>
                </a:solidFill>
                <a:hlinkClick r:id="rId4"/>
              </a:rPr>
            </a:br>
            <a:br>
              <a:rPr lang="en" sz="1017" u="sng">
                <a:solidFill>
                  <a:schemeClr val="hlink"/>
                </a:solidFill>
                <a:hlinkClick r:id="rId5"/>
              </a:rPr>
            </a:br>
            <a:endParaRPr sz="1665"/>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4"/>
          <p:cNvSpPr txBox="1"/>
          <p:nvPr>
            <p:ph type="title"/>
          </p:nvPr>
        </p:nvSpPr>
        <p:spPr>
          <a:xfrm>
            <a:off x="311700" y="1498475"/>
            <a:ext cx="8520600" cy="1571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